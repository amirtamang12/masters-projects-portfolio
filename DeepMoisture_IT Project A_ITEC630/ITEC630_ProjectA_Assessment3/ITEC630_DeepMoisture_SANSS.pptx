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5" r:id="rId16"/>
    <p:sldId id="270" r:id="rId17"/>
    <p:sldId id="271" r:id="rId18"/>
    <p:sldId id="274" r:id="rId19"/>
    <p:sldId id="272" r:id="rId20"/>
    <p:sldId id="273" r:id="rId2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5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</c:v>
                </c:pt>
              </c:strCache>
            </c:strRef>
          </c:tx>
          <c:spPr>
            <a:solidFill>
              <a:srgbClr val="C97B26"/>
            </a:solidFill>
            <a:effectLst/>
          </c:spPr>
          <c:invertIfNegative val="0"/>
          <c:dLbls>
            <c:numFmt formatCode="\$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202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Model Dev</c:v>
                </c:pt>
                <c:pt idx="1">
                  <c:v>Planning</c:v>
                </c:pt>
                <c:pt idx="2">
                  <c:v>Data Eng.</c:v>
                </c:pt>
                <c:pt idx="3">
                  <c:v>Integration</c:v>
                </c:pt>
                <c:pt idx="4">
                  <c:v>Closeout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5500</c:v>
                </c:pt>
                <c:pt idx="1">
                  <c:v>4000</c:v>
                </c:pt>
                <c:pt idx="2">
                  <c:v>3200</c:v>
                </c:pt>
                <c:pt idx="3">
                  <c:v>3000</c:v>
                </c:pt>
                <c:pt idx="4">
                  <c:v>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2B8-4D6A-9FD5-B945475867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t"/>
        <c:majorGridlines>
          <c:spPr>
            <a:ln w="6350" cap="flat">
              <a:solidFill>
                <a:srgbClr val="EDF2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21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25.png"/><Relationship Id="rId4" Type="http://schemas.openxmlformats.org/officeDocument/2006/relationships/image" Target="../media/image5.png"/><Relationship Id="rId9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10" Type="http://schemas.openxmlformats.org/officeDocument/2006/relationships/image" Target="../media/image29.png"/><Relationship Id="rId4" Type="http://schemas.openxmlformats.org/officeDocument/2006/relationships/image" Target="../media/image26.png"/><Relationship Id="rId9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image" Target="../media/image4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14.pn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73152" cy="6858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371600" y="2194560"/>
            <a:ext cx="1645920" cy="1645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2606040"/>
            <a:ext cx="822960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DeepMoisture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548640" y="4572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Sensing tomorrow's soil, today.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0" y="9144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PLAN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754880" y="1371600"/>
            <a:ext cx="6949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Soil Moisture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for Australian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Agriculture</a:t>
            </a:r>
            <a:endParaRPr lang="en-US" sz="4000" dirty="0"/>
          </a:p>
        </p:txBody>
      </p:sp>
      <p:sp>
        <p:nvSpPr>
          <p:cNvPr id="10" name="Shape 7"/>
          <p:cNvSpPr/>
          <p:nvPr/>
        </p:nvSpPr>
        <p:spPr>
          <a:xfrm>
            <a:off x="4754880" y="3520440"/>
            <a:ext cx="54864" cy="9144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937760" y="35204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Management Plan for benchmarking </a:t>
            </a:r>
            <a:r>
              <a:rPr lang="en-US" sz="1400" b="1" i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foundation models</a:t>
            </a:r>
            <a:r>
              <a:rPr lang="en-US" sz="14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against fine-tuned deep-learning baselines on Murray-Darling Basin soil-moisture data.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0" y="46177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ITEC630  •  IT Masters Project Part A  •  Semester 1, 2026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5074920"/>
            <a:ext cx="6949440" cy="1371600"/>
          </a:xfrm>
          <a:prstGeom prst="rect">
            <a:avLst/>
          </a:prstGeom>
          <a:solidFill>
            <a:srgbClr val="0F2D4A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937760" y="516636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SANSS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937760" y="5440680"/>
            <a:ext cx="65836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Sudip Paudyal  ·  Amir Tamang  ·  Nischal Rai  ·  Syarifah Haninah  ·  Suhana Pradhan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to: Walayat Hussain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Catholic University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walk you through over the next 15 minutes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14630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1325880" y="161848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4" y="1719072"/>
            <a:ext cx="256032" cy="2560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920240" y="15087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920240" y="18562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project, and why now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237744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37744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13232" y="24231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1325880" y="257860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464" y="2679192"/>
            <a:ext cx="256032" cy="25603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920240" y="2468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1920240" y="28163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&amp; non-functional specs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48640" y="333756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333756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13232" y="3383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Shape 19"/>
          <p:cNvSpPr/>
          <p:nvPr/>
        </p:nvSpPr>
        <p:spPr>
          <a:xfrm>
            <a:off x="1325880" y="353872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6464" y="3639312"/>
            <a:ext cx="256032" cy="25603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920240" y="34290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1920240" y="3776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Agile + CRISP-DM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8640" y="429768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48640" y="429768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13232" y="4343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1325880" y="449884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6464" y="4599432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920240" y="4389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WBS</a:t>
            </a:r>
            <a:endParaRPr lang="en-US" sz="1500" dirty="0"/>
          </a:p>
        </p:txBody>
      </p:sp>
      <p:sp>
        <p:nvSpPr>
          <p:cNvPr id="33" name="Text 27"/>
          <p:cNvSpPr/>
          <p:nvPr/>
        </p:nvSpPr>
        <p:spPr>
          <a:xfrm>
            <a:off x="1920240" y="47365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in, what's out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548640" y="525780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525780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713232" y="5303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37" name="Shape 31"/>
          <p:cNvSpPr/>
          <p:nvPr/>
        </p:nvSpPr>
        <p:spPr>
          <a:xfrm>
            <a:off x="1325880" y="545896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26464" y="5559552"/>
            <a:ext cx="256032" cy="25603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920240" y="5349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&amp; Sprints</a:t>
            </a:r>
            <a:endParaRPr lang="en-US" sz="1500" dirty="0"/>
          </a:p>
        </p:txBody>
      </p:sp>
      <p:sp>
        <p:nvSpPr>
          <p:cNvPr id="40" name="Text 33"/>
          <p:cNvSpPr/>
          <p:nvPr/>
        </p:nvSpPr>
        <p:spPr>
          <a:xfrm>
            <a:off x="1920240" y="5696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sprints, 14 weeks</a:t>
            </a:r>
            <a:endParaRPr lang="en-US" sz="1100" dirty="0"/>
          </a:p>
        </p:txBody>
      </p:sp>
      <p:sp>
        <p:nvSpPr>
          <p:cNvPr id="41" name="Shape 34"/>
          <p:cNvSpPr/>
          <p:nvPr/>
        </p:nvSpPr>
        <p:spPr>
          <a:xfrm>
            <a:off x="6309360" y="141732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6309360" y="141732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6473952" y="146304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200" dirty="0"/>
          </a:p>
        </p:txBody>
      </p:sp>
      <p:sp>
        <p:nvSpPr>
          <p:cNvPr id="44" name="Shape 37"/>
          <p:cNvSpPr/>
          <p:nvPr/>
        </p:nvSpPr>
        <p:spPr>
          <a:xfrm>
            <a:off x="7086600" y="161848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184" y="1719072"/>
            <a:ext cx="256032" cy="256032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680960" y="15087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Resources</a:t>
            </a:r>
            <a:endParaRPr lang="en-US" sz="1500" dirty="0"/>
          </a:p>
        </p:txBody>
      </p:sp>
      <p:sp>
        <p:nvSpPr>
          <p:cNvPr id="47" name="Text 39"/>
          <p:cNvSpPr/>
          <p:nvPr/>
        </p:nvSpPr>
        <p:spPr>
          <a:xfrm>
            <a:off x="7680960" y="18562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members, clear roles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6309360" y="237744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309360" y="237744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2"/>
          <p:cNvSpPr/>
          <p:nvPr/>
        </p:nvSpPr>
        <p:spPr>
          <a:xfrm>
            <a:off x="6473952" y="242316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200" dirty="0"/>
          </a:p>
        </p:txBody>
      </p:sp>
      <p:sp>
        <p:nvSpPr>
          <p:cNvPr id="51" name="Shape 43"/>
          <p:cNvSpPr/>
          <p:nvPr/>
        </p:nvSpPr>
        <p:spPr>
          <a:xfrm>
            <a:off x="7086600" y="257860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87184" y="2679192"/>
            <a:ext cx="256032" cy="256032"/>
          </a:xfrm>
          <a:prstGeom prst="rect">
            <a:avLst/>
          </a:prstGeom>
        </p:spPr>
      </p:pic>
      <p:sp>
        <p:nvSpPr>
          <p:cNvPr id="53" name="Text 44"/>
          <p:cNvSpPr/>
          <p:nvPr/>
        </p:nvSpPr>
        <p:spPr>
          <a:xfrm>
            <a:off x="7680960" y="246888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Quality</a:t>
            </a:r>
            <a:endParaRPr lang="en-US" sz="1500" dirty="0"/>
          </a:p>
        </p:txBody>
      </p:sp>
      <p:sp>
        <p:nvSpPr>
          <p:cNvPr id="54" name="Text 45"/>
          <p:cNvSpPr/>
          <p:nvPr/>
        </p:nvSpPr>
        <p:spPr>
          <a:xfrm>
            <a:off x="7680960" y="281635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go wrong, and our plan</a:t>
            </a:r>
            <a:endParaRPr lang="en-US" sz="1100" dirty="0"/>
          </a:p>
        </p:txBody>
      </p:sp>
      <p:sp>
        <p:nvSpPr>
          <p:cNvPr id="55" name="Shape 46"/>
          <p:cNvSpPr/>
          <p:nvPr/>
        </p:nvSpPr>
        <p:spPr>
          <a:xfrm>
            <a:off x="6309360" y="333756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6309360" y="333756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48"/>
          <p:cNvSpPr/>
          <p:nvPr/>
        </p:nvSpPr>
        <p:spPr>
          <a:xfrm>
            <a:off x="6473952" y="338328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200" dirty="0"/>
          </a:p>
        </p:txBody>
      </p:sp>
      <p:sp>
        <p:nvSpPr>
          <p:cNvPr id="58" name="Shape 49"/>
          <p:cNvSpPr/>
          <p:nvPr/>
        </p:nvSpPr>
        <p:spPr>
          <a:xfrm>
            <a:off x="7086600" y="353872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87184" y="3639312"/>
            <a:ext cx="256032" cy="256032"/>
          </a:xfrm>
          <a:prstGeom prst="rect">
            <a:avLst/>
          </a:prstGeom>
        </p:spPr>
      </p:pic>
      <p:sp>
        <p:nvSpPr>
          <p:cNvPr id="60" name="Text 50"/>
          <p:cNvSpPr/>
          <p:nvPr/>
        </p:nvSpPr>
        <p:spPr>
          <a:xfrm>
            <a:off x="7680960" y="34290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Cost</a:t>
            </a:r>
            <a:endParaRPr lang="en-US" sz="1500" dirty="0"/>
          </a:p>
        </p:txBody>
      </p:sp>
      <p:sp>
        <p:nvSpPr>
          <p:cNvPr id="61" name="Text 51"/>
          <p:cNvSpPr/>
          <p:nvPr/>
        </p:nvSpPr>
        <p:spPr>
          <a:xfrm>
            <a:off x="7680960" y="37764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Stakeholders, channels, budget</a:t>
            </a:r>
            <a:endParaRPr lang="en-US" sz="1100" dirty="0"/>
          </a:p>
        </p:txBody>
      </p:sp>
      <p:sp>
        <p:nvSpPr>
          <p:cNvPr id="62" name="Shape 52"/>
          <p:cNvSpPr/>
          <p:nvPr/>
        </p:nvSpPr>
        <p:spPr>
          <a:xfrm>
            <a:off x="6309360" y="429768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53"/>
          <p:cNvSpPr/>
          <p:nvPr/>
        </p:nvSpPr>
        <p:spPr>
          <a:xfrm>
            <a:off x="6309360" y="429768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4"/>
          <p:cNvSpPr/>
          <p:nvPr/>
        </p:nvSpPr>
        <p:spPr>
          <a:xfrm>
            <a:off x="6473952" y="434340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2200" dirty="0"/>
          </a:p>
        </p:txBody>
      </p:sp>
      <p:sp>
        <p:nvSpPr>
          <p:cNvPr id="65" name="Shape 55"/>
          <p:cNvSpPr/>
          <p:nvPr/>
        </p:nvSpPr>
        <p:spPr>
          <a:xfrm>
            <a:off x="7086600" y="449884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187184" y="4599432"/>
            <a:ext cx="256032" cy="256032"/>
          </a:xfrm>
          <a:prstGeom prst="rect">
            <a:avLst/>
          </a:prstGeom>
        </p:spPr>
      </p:pic>
      <p:sp>
        <p:nvSpPr>
          <p:cNvPr id="67" name="Text 56"/>
          <p:cNvSpPr/>
          <p:nvPr/>
        </p:nvSpPr>
        <p:spPr>
          <a:xfrm>
            <a:off x="7680960" y="43891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Demonstration</a:t>
            </a:r>
            <a:endParaRPr lang="en-US" sz="1500" dirty="0"/>
          </a:p>
        </p:txBody>
      </p:sp>
      <p:sp>
        <p:nvSpPr>
          <p:cNvPr id="68" name="Text 57"/>
          <p:cNvSpPr/>
          <p:nvPr/>
        </p:nvSpPr>
        <p:spPr>
          <a:xfrm>
            <a:off x="7680960" y="47365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built a working prototype</a:t>
            </a:r>
            <a:endParaRPr lang="en-US" sz="1100" dirty="0"/>
          </a:p>
        </p:txBody>
      </p:sp>
      <p:sp>
        <p:nvSpPr>
          <p:cNvPr id="69" name="Shape 58"/>
          <p:cNvSpPr/>
          <p:nvPr/>
        </p:nvSpPr>
        <p:spPr>
          <a:xfrm>
            <a:off x="6309360" y="5257800"/>
            <a:ext cx="539496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Shape 59"/>
          <p:cNvSpPr/>
          <p:nvPr/>
        </p:nvSpPr>
        <p:spPr>
          <a:xfrm>
            <a:off x="6309360" y="5257800"/>
            <a:ext cx="73152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Text 60"/>
          <p:cNvSpPr/>
          <p:nvPr/>
        </p:nvSpPr>
        <p:spPr>
          <a:xfrm>
            <a:off x="6473952" y="5303520"/>
            <a:ext cx="502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200" dirty="0"/>
          </a:p>
        </p:txBody>
      </p:sp>
      <p:sp>
        <p:nvSpPr>
          <p:cNvPr id="72" name="Shape 61"/>
          <p:cNvSpPr/>
          <p:nvPr/>
        </p:nvSpPr>
        <p:spPr>
          <a:xfrm>
            <a:off x="7086600" y="5458968"/>
            <a:ext cx="457200" cy="45720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87184" y="5559552"/>
            <a:ext cx="256032" cy="256032"/>
          </a:xfrm>
          <a:prstGeom prst="rect">
            <a:avLst/>
          </a:prstGeom>
        </p:spPr>
      </p:pic>
      <p:sp>
        <p:nvSpPr>
          <p:cNvPr id="74" name="Text 62"/>
          <p:cNvSpPr/>
          <p:nvPr/>
        </p:nvSpPr>
        <p:spPr>
          <a:xfrm>
            <a:off x="7680960" y="534924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500" dirty="0"/>
          </a:p>
        </p:txBody>
      </p:sp>
      <p:sp>
        <p:nvSpPr>
          <p:cNvPr id="75" name="Text 63"/>
          <p:cNvSpPr/>
          <p:nvPr/>
        </p:nvSpPr>
        <p:spPr>
          <a:xfrm>
            <a:off x="7680960" y="569671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want you to remember</a:t>
            </a:r>
            <a:endParaRPr lang="en-US" sz="1100" dirty="0"/>
          </a:p>
        </p:txBody>
      </p:sp>
      <p:sp>
        <p:nvSpPr>
          <p:cNvPr id="76" name="Shape 64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7" name="Text 65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78" name="Text 66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forecasting soil moisture in the Murray-Darling Basin worth solving?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3611880" cy="9601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1520" y="146304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1613916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40%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150876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Australia's farm output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343400" y="1325880"/>
            <a:ext cx="3611880" cy="9601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4526280" y="146304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7156" y="1613916"/>
            <a:ext cx="384048" cy="3840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0352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 km²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530352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Murray-Darling Basin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38160" y="1325880"/>
            <a:ext cx="3611880" cy="9601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321040" y="146304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916" y="1613916"/>
            <a:ext cx="384048" cy="384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98280" y="13716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23%</a:t>
            </a:r>
            <a:endParaRPr lang="en-US" sz="3000" dirty="0"/>
          </a:p>
        </p:txBody>
      </p:sp>
      <p:sp>
        <p:nvSpPr>
          <p:cNvPr id="20" name="Text 15"/>
          <p:cNvSpPr/>
          <p:nvPr/>
        </p:nvSpPr>
        <p:spPr>
          <a:xfrm>
            <a:off x="9098280" y="18288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profit drop in drought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48640" y="2514600"/>
            <a:ext cx="5532120" cy="38404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7"/>
          <p:cNvSpPr/>
          <p:nvPr/>
        </p:nvSpPr>
        <p:spPr>
          <a:xfrm>
            <a:off x="731520" y="2670048"/>
            <a:ext cx="502920" cy="50292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162" y="2780690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71600" y="2670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777240" y="3246120"/>
            <a:ext cx="5166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ARIMA and statistical models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struggle to capture the non-linear extremes of Australian climate — and that's where farmers need them most.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(LSTM)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it demands huge local datasets and weeks of fine-tuning. That's a real barrier for academic and farm-level deployment.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foundation models?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They've been hyped on academic benchmarks since 2024 — but no one has rigorously tested them on Murray-Darling soil moisture under real Australian climate extremes.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gap we close.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263640" y="2514600"/>
            <a:ext cx="5532120" cy="3840480"/>
          </a:xfrm>
          <a:prstGeom prst="rect">
            <a:avLst/>
          </a:prstGeom>
          <a:solidFill>
            <a:srgbClr val="E0F2F1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1"/>
          <p:cNvSpPr/>
          <p:nvPr/>
        </p:nvSpPr>
        <p:spPr>
          <a:xfrm>
            <a:off x="6446520" y="2670048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7162" y="2780690"/>
            <a:ext cx="281635" cy="28163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086600" y="2670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DeepMoisture</a:t>
            </a:r>
            <a:endParaRPr lang="en-US" sz="2000" dirty="0"/>
          </a:p>
        </p:txBody>
      </p:sp>
      <p:sp>
        <p:nvSpPr>
          <p:cNvPr id="30" name="Text 23"/>
          <p:cNvSpPr/>
          <p:nvPr/>
        </p:nvSpPr>
        <p:spPr>
          <a:xfrm>
            <a:off x="6492240" y="3246120"/>
            <a:ext cx="51663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head-to-head benchmark — managed under a hybrid Agile+CRISP-DM framework — answering one clean research question: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zero-shot foundation models match (or beat) fine-tuned baselines on real Australian agricultural data?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Chronos-2 + TimesFM 2.5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local training needed.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ARIMA, XGBoost, LSTM baselines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honest comparison.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Streamlit dashboard </a:t>
            </a:r>
            <a:r>
              <a:rPr lang="en-US" sz="12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delivering forecasts + uncertainty bands to farmers.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5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Requirements — 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four-layer pipeline: data in, forecasts 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11064240" cy="411480"/>
          </a:xfrm>
          <a:prstGeom prst="rect">
            <a:avLst/>
          </a:prstGeom>
          <a:solidFill>
            <a:srgbClr val="FBEEDE"/>
          </a:solidFill>
          <a:ln w="6350">
            <a:solidFill>
              <a:srgbClr val="C97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8368" y="1371600"/>
            <a:ext cx="320040" cy="32004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7" y="1442009"/>
            <a:ext cx="179222" cy="17922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2588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scope reminder: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ITEC630 is graded on the </a:t>
            </a:r>
            <a:r>
              <a:rPr lang="en-US" sz="1100" b="1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project-management plan itself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Team SANSS also built a working MVP to prove every requirement is genuinely buildable within constraints.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1965960"/>
            <a:ext cx="2697480" cy="38862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1965960"/>
            <a:ext cx="2697480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8580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1508760" y="269748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753" y="2868473"/>
            <a:ext cx="435254" cy="43525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8580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68580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• TERN • BoM APIs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731520" y="4389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climate, soil-moisture, and streamflow data via REST and OGC web services.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 rot="5400000">
            <a:off x="3250692" y="3771900"/>
            <a:ext cx="82296" cy="274320"/>
          </a:xfrm>
          <a:prstGeom prst="line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3337560" y="1965960"/>
            <a:ext cx="2697480" cy="38862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3337560" y="1965960"/>
            <a:ext cx="2697480" cy="5029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7"/>
          <p:cNvSpPr/>
          <p:nvPr/>
        </p:nvSpPr>
        <p:spPr>
          <a:xfrm>
            <a:off x="347472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02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297680" y="2697480"/>
            <a:ext cx="777240" cy="77724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8673" y="2868473"/>
            <a:ext cx="435254" cy="43525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47472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700" dirty="0"/>
          </a:p>
        </p:txBody>
      </p:sp>
      <p:sp>
        <p:nvSpPr>
          <p:cNvPr id="25" name="Text 20"/>
          <p:cNvSpPr/>
          <p:nvPr/>
        </p:nvSpPr>
        <p:spPr>
          <a:xfrm>
            <a:off x="347472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• NumPy • DVC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520440" y="4389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alignment, gap-filling, feature engineering, versioned train/val/test splits.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 rot="5400000">
            <a:off x="6039612" y="3771900"/>
            <a:ext cx="82296" cy="274320"/>
          </a:xfrm>
          <a:prstGeom prst="line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6126480" y="1965960"/>
            <a:ext cx="2697480" cy="38862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6126480" y="1965960"/>
            <a:ext cx="2697480" cy="50292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626364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03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7086600" y="2697480"/>
            <a:ext cx="777240" cy="77724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57593" y="2868473"/>
            <a:ext cx="435254" cy="435254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26364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1700" dirty="0"/>
          </a:p>
        </p:txBody>
      </p:sp>
      <p:sp>
        <p:nvSpPr>
          <p:cNvPr id="34" name="Text 28"/>
          <p:cNvSpPr/>
          <p:nvPr/>
        </p:nvSpPr>
        <p:spPr>
          <a:xfrm>
            <a:off x="626364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• TimesFM • PyTorch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309360" y="4389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zero-shot and fine-tuned foundation models against ARIMA, XGBoost and LSTM baselines.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 rot="5400000">
            <a:off x="8828532" y="3771900"/>
            <a:ext cx="82296" cy="274320"/>
          </a:xfrm>
          <a:prstGeom prst="line">
            <a:avLst/>
          </a:prstGeom>
          <a:solidFill>
            <a:srgbClr val="7180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915400" y="1965960"/>
            <a:ext cx="2697480" cy="38862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8915400" y="1965960"/>
            <a:ext cx="2697480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3"/>
          <p:cNvSpPr/>
          <p:nvPr/>
        </p:nvSpPr>
        <p:spPr>
          <a:xfrm>
            <a:off x="9052560" y="2011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04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875520" y="269748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46513" y="2868473"/>
            <a:ext cx="435254" cy="435254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052560" y="3611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700" dirty="0"/>
          </a:p>
        </p:txBody>
      </p:sp>
      <p:sp>
        <p:nvSpPr>
          <p:cNvPr id="43" name="Text 36"/>
          <p:cNvSpPr/>
          <p:nvPr/>
        </p:nvSpPr>
        <p:spPr>
          <a:xfrm>
            <a:off x="9052560" y="4023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• Plotly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9098280" y="438912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station selection, forecast charts, and uncertainty bands.</a:t>
            </a:r>
            <a:endParaRPr lang="en-US" sz="1100" dirty="0"/>
          </a:p>
        </p:txBody>
      </p:sp>
      <p:sp>
        <p:nvSpPr>
          <p:cNvPr id="45" name="Text 3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by design — each layer can be swapped, tested, or upgraded independently. That's how we keep risk low.</a:t>
            </a:r>
            <a:endParaRPr lang="en-US" sz="1200" dirty="0"/>
          </a:p>
        </p:txBody>
      </p:sp>
      <p:sp>
        <p:nvSpPr>
          <p:cNvPr id="46" name="Shape 39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0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48" name="Text 41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 — What the System Must Do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requirements, prioritised using MoSCoW — here are the eight that drive our build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5029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069080" y="13716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61320" y="137160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187452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66928" y="187452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25880" y="18745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 Ingestion (SILO)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69080" y="18745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daily rainfall, temperature, ET, humidity from SILO REST API for 10+ MDB stations.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0607040" y="199339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607040" y="199339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57200" y="237744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6928" y="23774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25880" y="23774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Soil-Moisture Target (TERN SMIPS)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69080" y="2377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daily volumetric soil moisture from TERN at 1 km grid resolution.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607040" y="249631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07040" y="249631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8036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6928" y="288036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25880" y="28803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069080" y="2880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all sources to daily resolution, perform QC, fill gaps &lt;3 days via linear interpolation.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607040" y="299923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0607040" y="299923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338328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57200" y="338328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66928" y="338328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25880" y="3383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069080" y="3383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persistence, climatology, ARIMA, XGBoost, and LSTM as comparison baselines.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0607040" y="350215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0607040" y="350215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388620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66928" y="388620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325880" y="38862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Zero-Shot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069080" y="38862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Chronos-2 and TimesFM 2.5 with no local training; produce probabilistic forecasts.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10607040" y="400507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10607040" y="400507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438912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457200" y="438912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66928" y="438912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325880" y="43891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— Fine-Tuned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069080" y="43891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both models on Australian data with weather covariates.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607040" y="450799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607040" y="450799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89204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566928" y="489204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FR-11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325880" y="48920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069080" y="48920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KGE, RMSE, MAE, NSE, R², PBIAS, CRPS at all horizons; Diebold-Mariano tests at p &lt; 0.05.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607040" y="501091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607040" y="501091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7200" y="5394960"/>
            <a:ext cx="11247120" cy="502920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457200" y="5394960"/>
            <a:ext cx="54864" cy="5029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566928" y="5394960"/>
            <a:ext cx="667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325880" y="539496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069080" y="53949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Station-selection map, time-series plots with uncertainty bands, model comparison, CSV export.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10607040" y="5513832"/>
            <a:ext cx="960120" cy="265176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10607040" y="5513832"/>
            <a:ext cx="9601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94360" y="6172200"/>
            <a:ext cx="320040" cy="3200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6242609"/>
            <a:ext cx="179222" cy="179222"/>
          </a:xfrm>
          <a:prstGeom prst="rect">
            <a:avLst/>
          </a:prstGeom>
        </p:spPr>
      </p:pic>
      <p:sp>
        <p:nvSpPr>
          <p:cNvPr id="66" name="Text 63"/>
          <p:cNvSpPr/>
          <p:nvPr/>
        </p:nvSpPr>
        <p:spPr>
          <a:xfrm>
            <a:off x="1005840" y="608076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requirement above has measurable acceptance criteria — </a:t>
            </a:r>
            <a:r>
              <a:rPr lang="en-US" sz="1100" b="1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requirement is 'done' until its test passes.</a:t>
            </a:r>
            <a:r>
              <a:rPr lang="en-US" sz="11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Full MoSCoW set (FR-01 → FR-13) in the project plan document.</a:t>
            </a:r>
            <a:endParaRPr lang="en-US" sz="1100" dirty="0"/>
          </a:p>
        </p:txBody>
      </p:sp>
      <p:sp>
        <p:nvSpPr>
          <p:cNvPr id="67" name="Shape 64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5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69" name="Text 66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— How the System Must Behave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attributes turn a working system into a trustworthy one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697480" cy="914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08760" y="169164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9753" y="1862633"/>
            <a:ext cx="435254" cy="4352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8580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for all stations within 5 minutes on single GPU.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337560" y="141732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337560" y="1417320"/>
            <a:ext cx="2697480" cy="914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297680" y="1691640"/>
            <a:ext cx="777240" cy="77724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8673" y="1862633"/>
            <a:ext cx="435254" cy="43525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7472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2044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stations via YAML — zero code changes required.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141732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126480" y="1417320"/>
            <a:ext cx="2697480" cy="9144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7086600" y="1691640"/>
            <a:ext cx="777240" cy="77724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7593" y="1862633"/>
            <a:ext cx="435254" cy="43525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6364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26364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30936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 runs via DVC + fixed random seeds.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8915400" y="141732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8915400" y="1417320"/>
            <a:ext cx="2697480" cy="914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9875520" y="169164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6513" y="1862633"/>
            <a:ext cx="435254" cy="43525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052560" y="260604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9052560" y="28346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9098280" y="32004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retry logic with exponential backoff; zero silent failures.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548640" y="388620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3886200"/>
            <a:ext cx="2697480" cy="914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1508760" y="4160520"/>
            <a:ext cx="777240" cy="77724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79753" y="4331513"/>
            <a:ext cx="435254" cy="43525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68580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1000" dirty="0"/>
          </a:p>
        </p:txBody>
      </p:sp>
      <p:sp>
        <p:nvSpPr>
          <p:cNvPr id="39" name="Text 32"/>
          <p:cNvSpPr/>
          <p:nvPr/>
        </p:nvSpPr>
        <p:spPr>
          <a:xfrm>
            <a:off x="685800" y="5303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731520" y="5669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task failure rate for new users in peer beta testing.</a:t>
            </a:r>
            <a:endParaRPr lang="en-US" sz="1000" dirty="0"/>
          </a:p>
        </p:txBody>
      </p:sp>
      <p:sp>
        <p:nvSpPr>
          <p:cNvPr id="41" name="Shape 34"/>
          <p:cNvSpPr/>
          <p:nvPr/>
        </p:nvSpPr>
        <p:spPr>
          <a:xfrm>
            <a:off x="3337560" y="388620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3337560" y="3886200"/>
            <a:ext cx="2697480" cy="9144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4297680" y="4160520"/>
            <a:ext cx="777240" cy="77724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8673" y="4331513"/>
            <a:ext cx="435254" cy="435254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347472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1000" dirty="0"/>
          </a:p>
        </p:txBody>
      </p:sp>
      <p:sp>
        <p:nvSpPr>
          <p:cNvPr id="46" name="Text 38"/>
          <p:cNvSpPr/>
          <p:nvPr/>
        </p:nvSpPr>
        <p:spPr>
          <a:xfrm>
            <a:off x="3474720" y="5303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600" dirty="0"/>
          </a:p>
        </p:txBody>
      </p:sp>
      <p:sp>
        <p:nvSpPr>
          <p:cNvPr id="47" name="Text 39"/>
          <p:cNvSpPr/>
          <p:nvPr/>
        </p:nvSpPr>
        <p:spPr>
          <a:xfrm>
            <a:off x="3520440" y="5669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environment variables; zero credentials in Git history.</a:t>
            </a:r>
            <a:endParaRPr lang="en-US" sz="1000" dirty="0"/>
          </a:p>
        </p:txBody>
      </p:sp>
      <p:sp>
        <p:nvSpPr>
          <p:cNvPr id="48" name="Shape 40"/>
          <p:cNvSpPr/>
          <p:nvPr/>
        </p:nvSpPr>
        <p:spPr>
          <a:xfrm>
            <a:off x="6126480" y="388620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126480" y="3886200"/>
            <a:ext cx="2697480" cy="914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7086600" y="4160520"/>
            <a:ext cx="777240" cy="7772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7593" y="4331513"/>
            <a:ext cx="435254" cy="435254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26364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6263640" y="5303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600" dirty="0"/>
          </a:p>
        </p:txBody>
      </p:sp>
      <p:sp>
        <p:nvSpPr>
          <p:cNvPr id="54" name="Text 45"/>
          <p:cNvSpPr/>
          <p:nvPr/>
        </p:nvSpPr>
        <p:spPr>
          <a:xfrm>
            <a:off x="6309360" y="5669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conda env runs on Linux, macOS, and Windows.</a:t>
            </a:r>
            <a:endParaRPr lang="en-US" sz="1000" dirty="0"/>
          </a:p>
        </p:txBody>
      </p:sp>
      <p:sp>
        <p:nvSpPr>
          <p:cNvPr id="55" name="Shape 46"/>
          <p:cNvSpPr/>
          <p:nvPr/>
        </p:nvSpPr>
        <p:spPr>
          <a:xfrm>
            <a:off x="8915400" y="3886200"/>
            <a:ext cx="269748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8915400" y="3886200"/>
            <a:ext cx="2697480" cy="914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48"/>
          <p:cNvSpPr/>
          <p:nvPr/>
        </p:nvSpPr>
        <p:spPr>
          <a:xfrm>
            <a:off x="9875520" y="4160520"/>
            <a:ext cx="777240" cy="77724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46513" y="4331513"/>
            <a:ext cx="435254" cy="435254"/>
          </a:xfrm>
          <a:prstGeom prst="rect">
            <a:avLst/>
          </a:prstGeom>
        </p:spPr>
      </p:pic>
      <p:sp>
        <p:nvSpPr>
          <p:cNvPr id="59" name="Text 49"/>
          <p:cNvSpPr/>
          <p:nvPr/>
        </p:nvSpPr>
        <p:spPr>
          <a:xfrm>
            <a:off x="9052560" y="507492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1000" dirty="0"/>
          </a:p>
        </p:txBody>
      </p:sp>
      <p:sp>
        <p:nvSpPr>
          <p:cNvPr id="60" name="Text 50"/>
          <p:cNvSpPr/>
          <p:nvPr/>
        </p:nvSpPr>
        <p:spPr>
          <a:xfrm>
            <a:off x="9052560" y="5303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600" dirty="0"/>
          </a:p>
        </p:txBody>
      </p:sp>
      <p:sp>
        <p:nvSpPr>
          <p:cNvPr id="61" name="Text 51"/>
          <p:cNvSpPr/>
          <p:nvPr/>
        </p:nvSpPr>
        <p:spPr>
          <a:xfrm>
            <a:off x="9098280" y="5669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PEP-8 compliant; ≥60% test coverage; Google-style docstrings.</a:t>
            </a:r>
            <a:endParaRPr lang="en-US" sz="1000" dirty="0"/>
          </a:p>
        </p:txBody>
      </p:sp>
      <p:sp>
        <p:nvSpPr>
          <p:cNvPr id="62" name="Text 5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matter? </a:t>
            </a: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evaluators — and ultimately the farmers we want to help — only trust forecasts they can run, repeat, and verify for themselves.</a:t>
            </a:r>
            <a:endParaRPr lang="en-US" sz="1200" dirty="0"/>
          </a:p>
        </p:txBody>
      </p:sp>
      <p:sp>
        <p:nvSpPr>
          <p:cNvPr id="63" name="Shape 53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4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65" name="Text 55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 &amp; Technology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government-grade data — paired with state-of-the-art open-source tools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AUSTRALIAN GOVERNMENT DATA SOURCES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737360"/>
            <a:ext cx="73152" cy="9601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13232" y="193852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956" y="2063252"/>
            <a:ext cx="317480" cy="317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41732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Climate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417320" y="206654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Queensland Government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17320" y="2286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Rainfall, temperature, ET, humidity — daily, ~5 km grid since 1889.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48640" y="278892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548640" y="2788920"/>
            <a:ext cx="73152" cy="96012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13232" y="2990088"/>
            <a:ext cx="566928" cy="566928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956" y="3114812"/>
            <a:ext cx="317480" cy="3174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41732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 SMIPS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417320" y="311810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Terrestrial Ecosystem Research Network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1417320" y="33375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volumetric soil moisture at three depth layers, 1 km grid.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48640" y="384048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8"/>
          <p:cNvSpPr/>
          <p:nvPr/>
        </p:nvSpPr>
        <p:spPr>
          <a:xfrm>
            <a:off x="548640" y="3840480"/>
            <a:ext cx="73152" cy="9601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713232" y="4041648"/>
            <a:ext cx="566928" cy="566928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956" y="4166372"/>
            <a:ext cx="317480" cy="3174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41732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TERN CosmOz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1417320" y="416966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Cosmic-ray neutron sensors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1417320" y="43891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soil moisture at 16+ Australian sites for validation.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548640" y="489204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548640" y="4892040"/>
            <a:ext cx="73152" cy="9601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713232" y="509320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7956" y="5217932"/>
            <a:ext cx="317480" cy="317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41732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Water Online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1417320" y="5221224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 of Meteorology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1417320" y="54406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Streamflow &amp; storage from ~3,500 hydrological stations.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263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TECHNOLOGY STACK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6263640" y="173736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6263640" y="1737360"/>
            <a:ext cx="73152" cy="9601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6428232" y="193852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2956" y="2063252"/>
            <a:ext cx="317480" cy="31748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7132320" y="181051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7132320" y="21031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(Amazon)  •  TimesFM 2.5 (Google)  •  PyTorch  •  XGBoost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6263640" y="278892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6"/>
          <p:cNvSpPr/>
          <p:nvPr/>
        </p:nvSpPr>
        <p:spPr>
          <a:xfrm>
            <a:off x="6263640" y="2788920"/>
            <a:ext cx="73152" cy="96012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6428232" y="2990088"/>
            <a:ext cx="566928" cy="566928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52956" y="3114812"/>
            <a:ext cx="317480" cy="31748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7132320" y="28620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7132320" y="31546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 •  pandas / NumPy  •  DVC for data versioning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6263640" y="384048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1"/>
          <p:cNvSpPr/>
          <p:nvPr/>
        </p:nvSpPr>
        <p:spPr>
          <a:xfrm>
            <a:off x="6263640" y="3840480"/>
            <a:ext cx="73152" cy="9601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6428232" y="4041648"/>
            <a:ext cx="566928" cy="566928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2956" y="4166372"/>
            <a:ext cx="317480" cy="3174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7132320" y="391363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53" name="Text 44"/>
          <p:cNvSpPr/>
          <p:nvPr/>
        </p:nvSpPr>
        <p:spPr>
          <a:xfrm>
            <a:off x="7132320" y="420624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 •  Plotly  •  Streamlit Cloud (free tier)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6263640" y="4892040"/>
            <a:ext cx="5486400" cy="96012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6"/>
          <p:cNvSpPr/>
          <p:nvPr/>
        </p:nvSpPr>
        <p:spPr>
          <a:xfrm>
            <a:off x="6263640" y="4892040"/>
            <a:ext cx="73152" cy="96012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47"/>
          <p:cNvSpPr/>
          <p:nvPr/>
        </p:nvSpPr>
        <p:spPr>
          <a:xfrm>
            <a:off x="6428232" y="5093208"/>
            <a:ext cx="566928" cy="566928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2956" y="5217932"/>
            <a:ext cx="317480" cy="317480"/>
          </a:xfrm>
          <a:prstGeom prst="rect">
            <a:avLst/>
          </a:prstGeom>
        </p:spPr>
      </p:pic>
      <p:sp>
        <p:nvSpPr>
          <p:cNvPr id="58" name="Text 48"/>
          <p:cNvSpPr/>
          <p:nvPr/>
        </p:nvSpPr>
        <p:spPr>
          <a:xfrm>
            <a:off x="7132320" y="496519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</a:t>
            </a:r>
            <a:endParaRPr lang="en-US" sz="1400" dirty="0"/>
          </a:p>
        </p:txBody>
      </p:sp>
      <p:sp>
        <p:nvSpPr>
          <p:cNvPr id="59" name="Text 49"/>
          <p:cNvSpPr/>
          <p:nvPr/>
        </p:nvSpPr>
        <p:spPr>
          <a:xfrm>
            <a:off x="7132320" y="52578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(Scrum board)  •  GitHub + Actions CI/CD  •  Google Colab Pro (GPU)</a:t>
            </a:r>
            <a:endParaRPr lang="en-US" sz="1100" dirty="0"/>
          </a:p>
        </p:txBody>
      </p:sp>
      <p:sp>
        <p:nvSpPr>
          <p:cNvPr id="60" name="Shape 50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1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62" name="Text 52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— Hybrid Agile + CRISP-DM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one framework wasn't enough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17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Agile struggles with the experimental nature of ML modelling. Pure CRISP-DM lacks Agile's discipline.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embed CRISP-DM phases inside Agile sprints — getting iteration speed AND scientific rigour.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194560"/>
            <a:ext cx="5532120" cy="3931920"/>
          </a:xfrm>
          <a:prstGeom prst="rect">
            <a:avLst/>
          </a:prstGeom>
          <a:solidFill>
            <a:srgbClr val="E0F2F1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33172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19" y="246247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23317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SCRUM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554480" y="2606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execution layer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14400" y="3154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sprints × 2 weeks (14-week semester total)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in Jira with capability-based backlog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async stand-ups via Slack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Sprint Reviews with our Supervisor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Retrospectives — continuous improvement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Story-point velocity to forecast workload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63640" y="2194560"/>
            <a:ext cx="5532120" cy="3931920"/>
          </a:xfrm>
          <a:prstGeom prst="rect">
            <a:avLst/>
          </a:prstGeom>
          <a:solidFill>
            <a:srgbClr val="FBEEDE"/>
          </a:solidFill>
          <a:ln w="6350">
            <a:solidFill>
              <a:srgbClr val="C97B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37960" y="2331720"/>
            <a:ext cx="594360" cy="59436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2462479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269480" y="233172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CRISP-DM LIFECYCLE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7269480" y="2606040"/>
            <a:ext cx="4343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Data-science scientific layer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6629400" y="3154680"/>
            <a:ext cx="4983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Understanding — research question framing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— SILO/TERN exploratory analysis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— QC, gap-filling, feature engineering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— baselines, then foundation models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— KGE, RMSE, statistical significance tests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Streamlit dashboard for end-users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CRISP-DM phase becomes a trackable, time-boxed Jira deliverable.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Work Breakdown Structure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phases, clear boundaries — so nothing slips through the cracks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20640" y="1371600"/>
            <a:ext cx="1920240" cy="50292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120640" y="137160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080760" y="1874520"/>
            <a:ext cx="0" cy="27432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60120" y="2148840"/>
            <a:ext cx="1024128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00200" y="2011680"/>
            <a:ext cx="0" cy="18288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8640" y="2194560"/>
            <a:ext cx="2103120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4864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 &amp; Data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2103120" cy="31089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297180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 SILO/TERN API setup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 EDA &amp; data QC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 Feature engineering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  DVC versioning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863340" y="2011680"/>
            <a:ext cx="0" cy="18288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811780" y="2194560"/>
            <a:ext cx="2103120" cy="68580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81178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1178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Models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811780" y="2880360"/>
            <a:ext cx="2103120" cy="31089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948940" y="297180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 ARIMA training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 XGBoost training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  LSTM training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 KGE/RMSE benchmark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011680"/>
            <a:ext cx="0" cy="18288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074920" y="2194560"/>
            <a:ext cx="2103120" cy="68580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7492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7492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074920" y="2880360"/>
            <a:ext cx="2103120" cy="31089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212080" y="297180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Chronos-2 zero-shot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TimesFM zero-shot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Fine-tuning loop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GPU optimisation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389620" y="2011680"/>
            <a:ext cx="0" cy="18288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7338060" y="2194560"/>
            <a:ext cx="2103120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3806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33806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338060" y="2880360"/>
            <a:ext cx="2103120" cy="31089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75220" y="297180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 Streamlit wireframes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 Forecast charts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 Station selector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  Uncertainty bands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0652760" y="2011680"/>
            <a:ext cx="0" cy="182880"/>
          </a:xfrm>
          <a:prstGeom prst="line">
            <a:avLst/>
          </a:prstGeom>
          <a:noFill/>
          <a:ln w="12700">
            <a:solidFill>
              <a:srgbClr val="7180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601200" y="2194560"/>
            <a:ext cx="2103120" cy="68580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601200" y="22402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01200" y="2468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9601200" y="2880360"/>
            <a:ext cx="2103120" cy="31089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9738360" y="2971800"/>
            <a:ext cx="18288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Beta testing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Final report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Sponsor sign-off</a:t>
            </a:r>
            <a:endParaRPr lang="en-US" sz="11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Code archival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solidFill>
            <a:srgbClr val="FEE2E2"/>
          </a:solidFill>
          <a:ln w="63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58368" y="6217920"/>
            <a:ext cx="320040" cy="3200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777" y="6288329"/>
            <a:ext cx="179222" cy="179222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051560" y="6172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SCOPE: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IoT hardware  •  real-time edge computing  •  commercial web hosting  •  satellite imagery purchase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2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— 7 Sprints, 14 Weeks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is our least flexible constraint — so every sprint has a clear deliverable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41148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25880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377440" y="13716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3716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Deliverables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921240" y="13716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(W1 → W14)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783080"/>
            <a:ext cx="54864" cy="5669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66928" y="1911096"/>
            <a:ext cx="685800" cy="3108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66928" y="191109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25880" y="178308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377440" y="178308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1828800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PMP finalised, Jira board live, GitHub repo, Colab environments ready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921240" y="2011680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921240" y="1965960"/>
            <a:ext cx="287383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57200" y="2350008"/>
            <a:ext cx="11247120" cy="56692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57200" y="2350008"/>
            <a:ext cx="54864" cy="5669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66928" y="2478024"/>
            <a:ext cx="685800" cy="3108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66928" y="247802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2350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235000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206240" y="2395728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SILO/TERN extraction scripts, EDA notebook, missing-data handling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921240" y="2578608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10208623" y="2532888"/>
            <a:ext cx="287383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" y="2916936"/>
            <a:ext cx="54864" cy="566928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66928" y="3044952"/>
            <a:ext cx="685800" cy="310896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66928" y="3044952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25880" y="291693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W5–6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377440" y="2916936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206240" y="2962656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+ LSTM trained; first KGE/RMSE benchmark numbers in W&amp;B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9921240" y="3145536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10496006" y="3099816"/>
            <a:ext cx="287383" cy="201168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" y="3483864"/>
            <a:ext cx="11247120" cy="56692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457200" y="3483864"/>
            <a:ext cx="54864" cy="566928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66928" y="3611880"/>
            <a:ext cx="685800" cy="310896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566928" y="361188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325880" y="348386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W7–8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7440" y="3483864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FM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206240" y="3529584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+ TimesFM running zero-shot on MDB stations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921240" y="3712464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10783389" y="3666744"/>
            <a:ext cx="287383" cy="201168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457200" y="4050792"/>
            <a:ext cx="54864" cy="566928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66928" y="4178808"/>
            <a:ext cx="685800" cy="310896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66928" y="4178808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325880" y="405079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W9–10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77440" y="4050792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206240" y="4096512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weights converged; GPU memory monitored &amp; optimised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921240" y="4279392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11070771" y="4233672"/>
            <a:ext cx="287383" cy="201168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57200" y="4617720"/>
            <a:ext cx="11247120" cy="566928"/>
          </a:xfrm>
          <a:prstGeom prst="rect">
            <a:avLst/>
          </a:prstGeom>
          <a:solidFill>
            <a:srgbClr val="F7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7200" y="4617720"/>
            <a:ext cx="54864" cy="56692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566928" y="4745736"/>
            <a:ext cx="685800" cy="310896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566928" y="4745736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325880" y="461772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W11–12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377440" y="461772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4206240" y="4663440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wireframes → interactive charts → uncertainty bands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921240" y="4846320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11358154" y="4800600"/>
            <a:ext cx="287383" cy="20116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457200" y="5184648"/>
            <a:ext cx="54864" cy="566928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566928" y="5312664"/>
            <a:ext cx="685800" cy="310896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66928" y="5312664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325880" y="518464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W13–14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2377440" y="5184648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Closure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4206240" y="5230368"/>
            <a:ext cx="56509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testing (&lt;1% failure target), final report, presentation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9921240" y="5413248"/>
            <a:ext cx="2011680" cy="109728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0" name="Shape 68"/>
          <p:cNvSpPr/>
          <p:nvPr/>
        </p:nvSpPr>
        <p:spPr>
          <a:xfrm>
            <a:off x="11645537" y="5367528"/>
            <a:ext cx="287383" cy="201168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457200" y="6080760"/>
            <a:ext cx="11247120" cy="50292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594360" y="6172200"/>
            <a:ext cx="320040" cy="3200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769" y="6242609"/>
            <a:ext cx="179222" cy="179222"/>
          </a:xfrm>
          <a:prstGeom prst="rect">
            <a:avLst/>
          </a:prstGeom>
        </p:spPr>
      </p:pic>
      <p:sp>
        <p:nvSpPr>
          <p:cNvPr id="74" name="Text 71"/>
          <p:cNvSpPr/>
          <p:nvPr/>
        </p:nvSpPr>
        <p:spPr>
          <a:xfrm>
            <a:off x="1005840" y="608076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Milestones: </a:t>
            </a:r>
            <a:r>
              <a:rPr lang="en-US" sz="11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PMP signed off (W2)  •  M2 Data pipeline live (W4)  •  M3 Baselines benchmarked (W6)  •  M4 FM fine-tuned (W10)  •  M5 Dashboard MVP (W12)  •  M6 Final delivery (W14)</a:t>
            </a:r>
            <a:endParaRPr lang="en-US" sz="1100" dirty="0"/>
          </a:p>
        </p:txBody>
      </p:sp>
      <p:sp>
        <p:nvSpPr>
          <p:cNvPr id="75" name="Shape 72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6" name="Text 73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SANSS — Five Members, Five Specialisations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built around the project's natural fault lines: PM, data, modelling, frontend, comms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148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148840" cy="16459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028700" y="1783080"/>
            <a:ext cx="1188720" cy="118872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0218" y="2044598"/>
            <a:ext cx="665683" cy="6656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Amir Tamang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40080" y="3429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S00393664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22960" y="3703320"/>
            <a:ext cx="1600200" cy="292608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2296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85800" y="41148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Oversees execution, manages coordination, keeps us on scope and on schedule.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40080" y="5394960"/>
            <a:ext cx="19659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5800" y="54406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85800" y="5605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1 &amp; 6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800350" y="1417320"/>
            <a:ext cx="2148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2800350" y="1417320"/>
            <a:ext cx="2148840" cy="1645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3280410" y="178308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1928" y="2044598"/>
            <a:ext cx="665683" cy="665683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89179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Nischal Rai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2891790" y="3429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S00392579</a:t>
            </a:r>
            <a:endParaRPr lang="en-US" sz="900" dirty="0"/>
          </a:p>
        </p:txBody>
      </p:sp>
      <p:sp>
        <p:nvSpPr>
          <p:cNvPr id="24" name="Shape 20"/>
          <p:cNvSpPr/>
          <p:nvPr/>
        </p:nvSpPr>
        <p:spPr>
          <a:xfrm>
            <a:off x="3074670" y="3703320"/>
            <a:ext cx="1600200" cy="29260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1"/>
          <p:cNvSpPr/>
          <p:nvPr/>
        </p:nvSpPr>
        <p:spPr>
          <a:xfrm>
            <a:off x="307467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2937510" y="41148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SILO/TERN data pipelines, exploratory analysis, and core methodology.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2891790" y="5394960"/>
            <a:ext cx="19659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4"/>
          <p:cNvSpPr/>
          <p:nvPr/>
        </p:nvSpPr>
        <p:spPr>
          <a:xfrm>
            <a:off x="2937510" y="54406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2937510" y="5605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2 &amp; 3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5052060" y="1417320"/>
            <a:ext cx="2148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5052060" y="1417320"/>
            <a:ext cx="2148840" cy="164592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8"/>
          <p:cNvSpPr/>
          <p:nvPr/>
        </p:nvSpPr>
        <p:spPr>
          <a:xfrm>
            <a:off x="5532120" y="1783080"/>
            <a:ext cx="1188720" cy="118872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3638" y="2044598"/>
            <a:ext cx="665683" cy="665683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514350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Suhana Pradhan</a:t>
            </a:r>
            <a:endParaRPr lang="en-US" sz="1400" dirty="0"/>
          </a:p>
        </p:txBody>
      </p:sp>
      <p:sp>
        <p:nvSpPr>
          <p:cNvPr id="35" name="Text 30"/>
          <p:cNvSpPr/>
          <p:nvPr/>
        </p:nvSpPr>
        <p:spPr>
          <a:xfrm>
            <a:off x="5143500" y="3429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S00393735</a:t>
            </a:r>
            <a:endParaRPr lang="en-US" sz="900" dirty="0"/>
          </a:p>
        </p:txBody>
      </p:sp>
      <p:sp>
        <p:nvSpPr>
          <p:cNvPr id="36" name="Shape 31"/>
          <p:cNvSpPr/>
          <p:nvPr/>
        </p:nvSpPr>
        <p:spPr>
          <a:xfrm>
            <a:off x="5326380" y="3703320"/>
            <a:ext cx="1600200" cy="292608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2"/>
          <p:cNvSpPr/>
          <p:nvPr/>
        </p:nvSpPr>
        <p:spPr>
          <a:xfrm>
            <a:off x="532638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Developer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5189220" y="41148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system implementation and the interactive Streamlit dashboard.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143500" y="5394960"/>
            <a:ext cx="19659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5189220" y="54406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5189220" y="5605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5 &amp; 6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7303770" y="1417320"/>
            <a:ext cx="2148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7303770" y="1417320"/>
            <a:ext cx="2148840" cy="164592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39"/>
          <p:cNvSpPr/>
          <p:nvPr/>
        </p:nvSpPr>
        <p:spPr>
          <a:xfrm>
            <a:off x="7783830" y="1783080"/>
            <a:ext cx="1188720" cy="11887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348" y="2044598"/>
            <a:ext cx="665683" cy="665683"/>
          </a:xfrm>
          <a:prstGeom prst="rect">
            <a:avLst/>
          </a:prstGeom>
        </p:spPr>
      </p:pic>
      <p:sp>
        <p:nvSpPr>
          <p:cNvPr id="46" name="Text 40"/>
          <p:cNvSpPr/>
          <p:nvPr/>
        </p:nvSpPr>
        <p:spPr>
          <a:xfrm>
            <a:off x="739521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Syarifah Haninah</a:t>
            </a:r>
            <a:endParaRPr lang="en-US" sz="1400" dirty="0"/>
          </a:p>
        </p:txBody>
      </p:sp>
      <p:sp>
        <p:nvSpPr>
          <p:cNvPr id="47" name="Text 41"/>
          <p:cNvSpPr/>
          <p:nvPr/>
        </p:nvSpPr>
        <p:spPr>
          <a:xfrm>
            <a:off x="7395210" y="3429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S00394184</a:t>
            </a:r>
            <a:endParaRPr lang="en-US" sz="900" dirty="0"/>
          </a:p>
        </p:txBody>
      </p:sp>
      <p:sp>
        <p:nvSpPr>
          <p:cNvPr id="48" name="Shape 42"/>
          <p:cNvSpPr/>
          <p:nvPr/>
        </p:nvSpPr>
        <p:spPr>
          <a:xfrm>
            <a:off x="7578090" y="3703320"/>
            <a:ext cx="1600200" cy="292608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757809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Scope Lead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7440930" y="41148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scope boundaries, identifies risks, enforces quality baselines.</a:t>
            </a:r>
            <a:endParaRPr lang="en-US" sz="1000" dirty="0"/>
          </a:p>
        </p:txBody>
      </p:sp>
      <p:sp>
        <p:nvSpPr>
          <p:cNvPr id="51" name="Shape 45"/>
          <p:cNvSpPr/>
          <p:nvPr/>
        </p:nvSpPr>
        <p:spPr>
          <a:xfrm>
            <a:off x="7395210" y="5394960"/>
            <a:ext cx="19659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46"/>
          <p:cNvSpPr/>
          <p:nvPr/>
        </p:nvSpPr>
        <p:spPr>
          <a:xfrm>
            <a:off x="7440930" y="54406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</a:t>
            </a:r>
            <a:endParaRPr lang="en-US" sz="800" dirty="0"/>
          </a:p>
        </p:txBody>
      </p:sp>
      <p:sp>
        <p:nvSpPr>
          <p:cNvPr id="53" name="Text 47"/>
          <p:cNvSpPr/>
          <p:nvPr/>
        </p:nvSpPr>
        <p:spPr>
          <a:xfrm>
            <a:off x="7440930" y="5605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4 &amp; 6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9555480" y="1417320"/>
            <a:ext cx="2148840" cy="44348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49"/>
          <p:cNvSpPr/>
          <p:nvPr/>
        </p:nvSpPr>
        <p:spPr>
          <a:xfrm>
            <a:off x="9555480" y="1417320"/>
            <a:ext cx="2148840" cy="164592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Shape 50"/>
          <p:cNvSpPr/>
          <p:nvPr/>
        </p:nvSpPr>
        <p:spPr>
          <a:xfrm>
            <a:off x="10035540" y="1783080"/>
            <a:ext cx="1188720" cy="118872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7058" y="2044598"/>
            <a:ext cx="665683" cy="665683"/>
          </a:xfrm>
          <a:prstGeom prst="rect">
            <a:avLst/>
          </a:prstGeom>
        </p:spPr>
      </p:pic>
      <p:sp>
        <p:nvSpPr>
          <p:cNvPr id="58" name="Text 51"/>
          <p:cNvSpPr/>
          <p:nvPr/>
        </p:nvSpPr>
        <p:spPr>
          <a:xfrm>
            <a:off x="9646920" y="310896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Sudip Paudyal</a:t>
            </a:r>
            <a:endParaRPr lang="en-US" sz="1400" dirty="0"/>
          </a:p>
        </p:txBody>
      </p:sp>
      <p:sp>
        <p:nvSpPr>
          <p:cNvPr id="59" name="Text 52"/>
          <p:cNvSpPr/>
          <p:nvPr/>
        </p:nvSpPr>
        <p:spPr>
          <a:xfrm>
            <a:off x="9646920" y="342900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S00391778</a:t>
            </a:r>
            <a:endParaRPr lang="en-US" sz="900" dirty="0"/>
          </a:p>
        </p:txBody>
      </p:sp>
      <p:sp>
        <p:nvSpPr>
          <p:cNvPr id="60" name="Shape 53"/>
          <p:cNvSpPr/>
          <p:nvPr/>
        </p:nvSpPr>
        <p:spPr>
          <a:xfrm>
            <a:off x="9829800" y="3703320"/>
            <a:ext cx="1600200" cy="292608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4"/>
          <p:cNvSpPr/>
          <p:nvPr/>
        </p:nvSpPr>
        <p:spPr>
          <a:xfrm>
            <a:off x="9829800" y="37033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Lead</a:t>
            </a:r>
            <a:endParaRPr lang="en-US" sz="1000" dirty="0"/>
          </a:p>
        </p:txBody>
      </p:sp>
      <p:sp>
        <p:nvSpPr>
          <p:cNvPr id="62" name="Text 55"/>
          <p:cNvSpPr/>
          <p:nvPr/>
        </p:nvSpPr>
        <p:spPr>
          <a:xfrm>
            <a:off x="9692640" y="4114800"/>
            <a:ext cx="18745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comms, sprint progress tracking, stakeholder reporting.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9646920" y="5394960"/>
            <a:ext cx="1965960" cy="36576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4" name="Text 57"/>
          <p:cNvSpPr/>
          <p:nvPr/>
        </p:nvSpPr>
        <p:spPr>
          <a:xfrm>
            <a:off x="9692640" y="54406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Peak:</a:t>
            </a:r>
            <a:endParaRPr lang="en-US" sz="800" dirty="0"/>
          </a:p>
        </p:txBody>
      </p:sp>
      <p:sp>
        <p:nvSpPr>
          <p:cNvPr id="65" name="Text 58"/>
          <p:cNvSpPr/>
          <p:nvPr/>
        </p:nvSpPr>
        <p:spPr>
          <a:xfrm>
            <a:off x="9692640" y="5605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(W1-12)</a:t>
            </a:r>
            <a:endParaRPr lang="en-US" sz="900" dirty="0"/>
          </a:p>
        </p:txBody>
      </p:sp>
      <p:sp>
        <p:nvSpPr>
          <p:cNvPr id="66" name="Text 59"/>
          <p:cNvSpPr/>
          <p:nvPr/>
        </p:nvSpPr>
        <p:spPr>
          <a:xfrm>
            <a:off x="548640" y="5989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availability: 10–12 hrs/week each, with role-specific peaks aligned to Agile sprint rhythm.</a:t>
            </a:r>
            <a:endParaRPr lang="en-US" sz="1200" dirty="0"/>
          </a:p>
        </p:txBody>
      </p:sp>
      <p:sp>
        <p:nvSpPr>
          <p:cNvPr id="67" name="Shape 60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8" name="Text 61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69" name="Text 62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— Identify Early, Mitigate Decisively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risks we're actively watching, with concrete fall-back plans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09728" cy="11430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7667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08760" y="1463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R-01  </a:t>
            </a:r>
            <a:r>
              <a:rPr lang="en-US" sz="9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508760" y="171907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memory limits on Colab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508760" y="212140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057400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3154680" y="21214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3794760" y="212140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583680" y="1508760"/>
            <a:ext cx="4937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675120" y="153619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675120" y="17373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Aggressively monitor consumption. If approached: reduce batch sizes, use gradient accumulation, or fall back to zero-shot inference only.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48640" y="2606040"/>
            <a:ext cx="11064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548640" y="260604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777240" y="288036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999" y="3011119"/>
            <a:ext cx="332842" cy="33284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50876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R-02  </a:t>
            </a:r>
            <a:r>
              <a:rPr lang="en-US" sz="9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508760" y="29535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 / API downtime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1508760" y="335584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2057400" y="3355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3154680" y="335584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3794760" y="335584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6583680" y="2743200"/>
            <a:ext cx="4937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6"/>
          <p:cNvSpPr/>
          <p:nvPr/>
        </p:nvSpPr>
        <p:spPr>
          <a:xfrm>
            <a:off x="6675120" y="277063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31" name="Text 27"/>
          <p:cNvSpPr/>
          <p:nvPr/>
        </p:nvSpPr>
        <p:spPr>
          <a:xfrm>
            <a:off x="6675120" y="2971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error-handling with exponential backoff in extraction scripts; forward-fill and interpolation for missing sensor values.</a:t>
            </a:r>
            <a:endParaRPr lang="en-US" sz="1000" dirty="0"/>
          </a:p>
        </p:txBody>
      </p:sp>
      <p:sp>
        <p:nvSpPr>
          <p:cNvPr id="32" name="Shape 28"/>
          <p:cNvSpPr/>
          <p:nvPr/>
        </p:nvSpPr>
        <p:spPr>
          <a:xfrm>
            <a:off x="548640" y="3840480"/>
            <a:ext cx="11064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548640" y="3840480"/>
            <a:ext cx="109728" cy="114300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0"/>
          <p:cNvSpPr/>
          <p:nvPr/>
        </p:nvSpPr>
        <p:spPr>
          <a:xfrm>
            <a:off x="777240" y="4114800"/>
            <a:ext cx="594360" cy="594360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99" y="4245559"/>
            <a:ext cx="332842" cy="332842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1508760" y="3931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R-03  </a:t>
            </a:r>
            <a:r>
              <a:rPr lang="en-US" sz="9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37" name="Text 32"/>
          <p:cNvSpPr/>
          <p:nvPr/>
        </p:nvSpPr>
        <p:spPr>
          <a:xfrm>
            <a:off x="1508760" y="4187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underperform baselines</a:t>
            </a:r>
            <a:endParaRPr lang="en-US" sz="1400" dirty="0"/>
          </a:p>
        </p:txBody>
      </p:sp>
      <p:sp>
        <p:nvSpPr>
          <p:cNvPr id="38" name="Text 33"/>
          <p:cNvSpPr/>
          <p:nvPr/>
        </p:nvSpPr>
        <p:spPr>
          <a:xfrm>
            <a:off x="1508760" y="459028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800" dirty="0"/>
          </a:p>
        </p:txBody>
      </p:sp>
      <p:sp>
        <p:nvSpPr>
          <p:cNvPr id="39" name="Text 34"/>
          <p:cNvSpPr/>
          <p:nvPr/>
        </p:nvSpPr>
        <p:spPr>
          <a:xfrm>
            <a:off x="205740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3154680" y="459028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3794760" y="45902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6583680" y="3977640"/>
            <a:ext cx="4937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8"/>
          <p:cNvSpPr/>
          <p:nvPr/>
        </p:nvSpPr>
        <p:spPr>
          <a:xfrm>
            <a:off x="6675120" y="400507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44" name="Text 39"/>
          <p:cNvSpPr/>
          <p:nvPr/>
        </p:nvSpPr>
        <p:spPr>
          <a:xfrm>
            <a:off x="6675120" y="42062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the report to analyse WHY traditional models won in this context — academically valid either way. Hybrid ensemble as plan B.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548640" y="5074920"/>
            <a:ext cx="1106424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1"/>
          <p:cNvSpPr/>
          <p:nvPr/>
        </p:nvSpPr>
        <p:spPr>
          <a:xfrm>
            <a:off x="548640" y="5074920"/>
            <a:ext cx="109728" cy="114300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2"/>
          <p:cNvSpPr/>
          <p:nvPr/>
        </p:nvSpPr>
        <p:spPr>
          <a:xfrm>
            <a:off x="777240" y="5349240"/>
            <a:ext cx="594360" cy="594360"/>
          </a:xfrm>
          <a:prstGeom prst="ellipse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99" y="5479999"/>
            <a:ext cx="332842" cy="332842"/>
          </a:xfrm>
          <a:prstGeom prst="rect">
            <a:avLst/>
          </a:prstGeom>
        </p:spPr>
      </p:pic>
      <p:sp>
        <p:nvSpPr>
          <p:cNvPr id="49" name="Text 43"/>
          <p:cNvSpPr/>
          <p:nvPr/>
        </p:nvSpPr>
        <p:spPr>
          <a:xfrm>
            <a:off x="1508760" y="5166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R-04  </a:t>
            </a:r>
            <a:r>
              <a:rPr lang="en-US" sz="900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200" dirty="0"/>
          </a:p>
        </p:txBody>
      </p:sp>
      <p:sp>
        <p:nvSpPr>
          <p:cNvPr id="50" name="Text 44"/>
          <p:cNvSpPr/>
          <p:nvPr/>
        </p:nvSpPr>
        <p:spPr>
          <a:xfrm>
            <a:off x="1508760" y="5422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slippage on dashboard</a:t>
            </a:r>
            <a:endParaRPr lang="en-US" sz="1400" dirty="0"/>
          </a:p>
        </p:txBody>
      </p:sp>
      <p:sp>
        <p:nvSpPr>
          <p:cNvPr id="51" name="Text 45"/>
          <p:cNvSpPr/>
          <p:nvPr/>
        </p:nvSpPr>
        <p:spPr>
          <a:xfrm>
            <a:off x="1508760" y="582472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</a:t>
            </a:r>
            <a:endParaRPr lang="en-US" sz="800" dirty="0"/>
          </a:p>
        </p:txBody>
      </p:sp>
      <p:sp>
        <p:nvSpPr>
          <p:cNvPr id="52" name="Text 46"/>
          <p:cNvSpPr/>
          <p:nvPr/>
        </p:nvSpPr>
        <p:spPr>
          <a:xfrm>
            <a:off x="2057400" y="5824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3154680" y="582472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1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800" dirty="0"/>
          </a:p>
        </p:txBody>
      </p:sp>
      <p:sp>
        <p:nvSpPr>
          <p:cNvPr id="54" name="Text 48"/>
          <p:cNvSpPr/>
          <p:nvPr/>
        </p:nvSpPr>
        <p:spPr>
          <a:xfrm>
            <a:off x="3794760" y="58247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1000" dirty="0"/>
          </a:p>
        </p:txBody>
      </p:sp>
      <p:sp>
        <p:nvSpPr>
          <p:cNvPr id="55" name="Shape 49"/>
          <p:cNvSpPr/>
          <p:nvPr/>
        </p:nvSpPr>
        <p:spPr>
          <a:xfrm>
            <a:off x="6583680" y="5212080"/>
            <a:ext cx="4937760" cy="868680"/>
          </a:xfrm>
          <a:prstGeom prst="rect">
            <a:avLst/>
          </a:prstGeom>
          <a:solidFill>
            <a:srgbClr val="E0F2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0"/>
          <p:cNvSpPr/>
          <p:nvPr/>
        </p:nvSpPr>
        <p:spPr>
          <a:xfrm>
            <a:off x="6675120" y="5239512"/>
            <a:ext cx="4754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6675120" y="54406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MVP-first approach: core forecasting charts ship in Sprint 6; advanced filtering moves to backlog if time runs short.</a:t>
            </a:r>
            <a:endParaRPr lang="en-US" sz="1000" dirty="0"/>
          </a:p>
        </p:txBody>
      </p:sp>
      <p:sp>
        <p:nvSpPr>
          <p:cNvPr id="58" name="Shape 52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9" name="Text 53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 — How We Prove It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isn't a checkbox — it's the metrics we hit and the tests we pass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6118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611880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72768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73152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KGE (Kling-Gupta Efficiency)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3152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&gt; ARIMA baseline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(Root Mean Square Error)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3152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&lt; ARIMA RMSE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CRPS (probabilistic skill)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uncertainty bands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31520" y="4983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Diebold-Mariano test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73152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significance @ p &lt; 0.05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20540" y="1371600"/>
            <a:ext cx="36118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320540" y="1371600"/>
            <a:ext cx="3611880" cy="86868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4860" y="1572768"/>
            <a:ext cx="475488" cy="4754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23494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Quality</a:t>
            </a:r>
            <a:endParaRPr lang="en-US" sz="1900" dirty="0"/>
          </a:p>
        </p:txBody>
      </p:sp>
      <p:sp>
        <p:nvSpPr>
          <p:cNvPr id="22" name="Text 18"/>
          <p:cNvSpPr/>
          <p:nvPr/>
        </p:nvSpPr>
        <p:spPr>
          <a:xfrm>
            <a:off x="450342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style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50342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PEP-8 compliant, flake8 clean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50342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450342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≥60% on core modules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50342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503420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reproducible via DVC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503420" y="4983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450342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Google-style docstrings everywhere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92440" y="1371600"/>
            <a:ext cx="3611880" cy="46634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7"/>
          <p:cNvSpPr/>
          <p:nvPr/>
        </p:nvSpPr>
        <p:spPr>
          <a:xfrm>
            <a:off x="8092440" y="1371600"/>
            <a:ext cx="3611880" cy="86868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1572768"/>
            <a:ext cx="475488" cy="475488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9006840" y="1371600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UX</a:t>
            </a:r>
            <a:endParaRPr lang="en-US" sz="1900" dirty="0"/>
          </a:p>
        </p:txBody>
      </p:sp>
      <p:sp>
        <p:nvSpPr>
          <p:cNvPr id="34" name="Text 29"/>
          <p:cNvSpPr/>
          <p:nvPr/>
        </p:nvSpPr>
        <p:spPr>
          <a:xfrm>
            <a:off x="8275320" y="23774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failure rate</a:t>
            </a:r>
            <a:endParaRPr lang="en-US" sz="1100" dirty="0"/>
          </a:p>
        </p:txBody>
      </p:sp>
      <p:sp>
        <p:nvSpPr>
          <p:cNvPr id="35" name="Text 30"/>
          <p:cNvSpPr/>
          <p:nvPr/>
        </p:nvSpPr>
        <p:spPr>
          <a:xfrm>
            <a:off x="8275320" y="26517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&lt;1% in peer beta testing</a:t>
            </a:r>
            <a:endParaRPr lang="en-US" sz="1000" dirty="0"/>
          </a:p>
        </p:txBody>
      </p:sp>
      <p:sp>
        <p:nvSpPr>
          <p:cNvPr id="36" name="Text 31"/>
          <p:cNvSpPr/>
          <p:nvPr/>
        </p:nvSpPr>
        <p:spPr>
          <a:xfrm>
            <a:off x="8275320" y="32461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time</a:t>
            </a:r>
            <a:endParaRPr lang="en-US" sz="1100" dirty="0"/>
          </a:p>
        </p:txBody>
      </p:sp>
      <p:sp>
        <p:nvSpPr>
          <p:cNvPr id="37" name="Text 32"/>
          <p:cNvSpPr/>
          <p:nvPr/>
        </p:nvSpPr>
        <p:spPr>
          <a:xfrm>
            <a:off x="8275320" y="35204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renders in &lt;5 seconds</a:t>
            </a:r>
            <a:endParaRPr lang="en-US" sz="1000" dirty="0"/>
          </a:p>
        </p:txBody>
      </p:sp>
      <p:sp>
        <p:nvSpPr>
          <p:cNvPr id="38" name="Text 33"/>
          <p:cNvSpPr/>
          <p:nvPr/>
        </p:nvSpPr>
        <p:spPr>
          <a:xfrm>
            <a:off x="8275320" y="4114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elements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8275320" y="438912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map, charts, CSV export</a:t>
            </a:r>
            <a:endParaRPr lang="en-US" sz="1000" dirty="0"/>
          </a:p>
        </p:txBody>
      </p:sp>
      <p:sp>
        <p:nvSpPr>
          <p:cNvPr id="40" name="Text 35"/>
          <p:cNvSpPr/>
          <p:nvPr/>
        </p:nvSpPr>
        <p:spPr>
          <a:xfrm>
            <a:off x="8275320" y="49834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100" dirty="0"/>
          </a:p>
        </p:txBody>
      </p:sp>
      <p:sp>
        <p:nvSpPr>
          <p:cNvPr id="41" name="Text 36"/>
          <p:cNvSpPr/>
          <p:nvPr/>
        </p:nvSpPr>
        <p:spPr>
          <a:xfrm>
            <a:off x="8275320" y="52578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</a:t>
            </a: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labels, minimal jargon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548640" y="6172200"/>
            <a:ext cx="11064240" cy="41148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8"/>
          <p:cNvSpPr/>
          <p:nvPr/>
        </p:nvSpPr>
        <p:spPr>
          <a:xfrm>
            <a:off x="658368" y="6217920"/>
            <a:ext cx="320040" cy="3200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777" y="6288329"/>
            <a:ext cx="179222" cy="179222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1051560" y="617220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STRATEGY: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data splitting (no leakage)  •  Comparative model benchmarking  •  Beta usability testing  •  W&amp;B experiment tracking</a:t>
            </a:r>
            <a:endParaRPr lang="en-US" sz="1100" dirty="0"/>
          </a:p>
        </p:txBody>
      </p:sp>
      <p:sp>
        <p:nvSpPr>
          <p:cNvPr id="46" name="Shape 40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1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48" name="Text 42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Stakeholders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channel, right cadence, right audience — every time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CHANNELS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80136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9019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7647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Stand-up (Slack)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280160" y="20391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Daily, async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(×5)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48640" y="246888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85800" y="257860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2679192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280160" y="25420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Review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280160" y="28163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(EOD)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 + Supervisor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48640" y="324612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85800" y="335584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345643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80160" y="33192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Report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280160" y="359359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W5, W9, W13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Supervisor + Coordinator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48640" y="402336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685800" y="413308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" y="4233672"/>
            <a:ext cx="256032" cy="25603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280160" y="4096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1280160" y="43708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Team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48640" y="480060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2"/>
          <p:cNvSpPr/>
          <p:nvPr/>
        </p:nvSpPr>
        <p:spPr>
          <a:xfrm>
            <a:off x="685800" y="491032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384" y="5010912"/>
            <a:ext cx="256032" cy="256032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280160" y="48737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Retrospective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1280160" y="51480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  Core team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6263640" y="1371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ENGAGEMENT MAP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263640" y="1783080"/>
            <a:ext cx="5486400" cy="402336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27"/>
          <p:cNvSpPr/>
          <p:nvPr/>
        </p:nvSpPr>
        <p:spPr>
          <a:xfrm>
            <a:off x="9006840" y="1965960"/>
            <a:ext cx="0" cy="3657600"/>
          </a:xfrm>
          <a:prstGeom prst="line">
            <a:avLst/>
          </a:prstGeom>
          <a:noFill/>
          <a:ln w="12700">
            <a:solidFill>
              <a:srgbClr val="7180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8"/>
          <p:cNvSpPr/>
          <p:nvPr/>
        </p:nvSpPr>
        <p:spPr>
          <a:xfrm>
            <a:off x="6446520" y="3794760"/>
            <a:ext cx="5120640" cy="0"/>
          </a:xfrm>
          <a:prstGeom prst="line">
            <a:avLst/>
          </a:prstGeom>
          <a:noFill/>
          <a:ln w="12700">
            <a:solidFill>
              <a:srgbClr val="71809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/>
          <p:nvPr/>
        </p:nvSpPr>
        <p:spPr>
          <a:xfrm>
            <a:off x="6263640" y="182880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INFLUENCE →</a:t>
            </a:r>
            <a:endParaRPr lang="en-US" sz="800" dirty="0"/>
          </a:p>
        </p:txBody>
      </p:sp>
      <p:sp>
        <p:nvSpPr>
          <p:cNvPr id="37" name="Text 30"/>
          <p:cNvSpPr/>
          <p:nvPr/>
        </p:nvSpPr>
        <p:spPr>
          <a:xfrm>
            <a:off x="6263640" y="5577840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INFLUENCE</a:t>
            </a:r>
            <a:endParaRPr lang="en-US" sz="800" dirty="0"/>
          </a:p>
        </p:txBody>
      </p:sp>
      <p:sp>
        <p:nvSpPr>
          <p:cNvPr id="38" name="Shape 31"/>
          <p:cNvSpPr/>
          <p:nvPr/>
        </p:nvSpPr>
        <p:spPr>
          <a:xfrm>
            <a:off x="9281160" y="2240280"/>
            <a:ext cx="2286000" cy="64008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/>
          <p:nvPr/>
        </p:nvSpPr>
        <p:spPr>
          <a:xfrm>
            <a:off x="928116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40" name="Text 33"/>
          <p:cNvSpPr/>
          <p:nvPr/>
        </p:nvSpPr>
        <p:spPr>
          <a:xfrm>
            <a:off x="928116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Closely</a:t>
            </a:r>
            <a:endParaRPr lang="en-US" sz="900" dirty="0"/>
          </a:p>
        </p:txBody>
      </p:sp>
      <p:sp>
        <p:nvSpPr>
          <p:cNvPr id="41" name="Shape 34"/>
          <p:cNvSpPr/>
          <p:nvPr/>
        </p:nvSpPr>
        <p:spPr>
          <a:xfrm>
            <a:off x="9281160" y="3063240"/>
            <a:ext cx="22860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/>
          <p:nvPr/>
        </p:nvSpPr>
        <p:spPr>
          <a:xfrm>
            <a:off x="9281160" y="3108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928116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Lead/Collaborate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6629400" y="2240280"/>
            <a:ext cx="2286000" cy="64008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6629400" y="2286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 Coordinator</a:t>
            </a:r>
            <a:endParaRPr lang="en-US" sz="1100" dirty="0"/>
          </a:p>
        </p:txBody>
      </p:sp>
      <p:sp>
        <p:nvSpPr>
          <p:cNvPr id="46" name="Text 39"/>
          <p:cNvSpPr/>
          <p:nvPr/>
        </p:nvSpPr>
        <p:spPr>
          <a:xfrm>
            <a:off x="6629400" y="2569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Informed</a:t>
            </a:r>
            <a:endParaRPr lang="en-US" sz="900" dirty="0"/>
          </a:p>
        </p:txBody>
      </p:sp>
      <p:sp>
        <p:nvSpPr>
          <p:cNvPr id="47" name="Shape 40"/>
          <p:cNvSpPr/>
          <p:nvPr/>
        </p:nvSpPr>
        <p:spPr>
          <a:xfrm>
            <a:off x="6629400" y="4709160"/>
            <a:ext cx="2468880" cy="6400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1"/>
          <p:cNvSpPr/>
          <p:nvPr/>
        </p:nvSpPr>
        <p:spPr>
          <a:xfrm>
            <a:off x="6629400" y="4754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MDB Farmers (end users)</a:t>
            </a:r>
            <a:endParaRPr lang="en-US" sz="1100" dirty="0"/>
          </a:p>
        </p:txBody>
      </p:sp>
      <p:sp>
        <p:nvSpPr>
          <p:cNvPr id="49" name="Text 42"/>
          <p:cNvSpPr/>
          <p:nvPr/>
        </p:nvSpPr>
        <p:spPr>
          <a:xfrm>
            <a:off x="6629400" y="50383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</a:t>
            </a:r>
            <a:endParaRPr lang="en-US" sz="900" dirty="0"/>
          </a:p>
        </p:txBody>
      </p:sp>
      <p:sp>
        <p:nvSpPr>
          <p:cNvPr id="50" name="Shape 43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4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52" name="Text 45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A4EDEB-175A-D79B-2775-06CF9A02846C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1287FEC-11B4-6646-7D0D-3A32818192F7}"/>
              </a:ext>
            </a:extLst>
          </p:cNvPr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FE35E8A-853C-8666-32B9-3A70685E3384}"/>
              </a:ext>
            </a:extLst>
          </p:cNvPr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Dashboard</a:t>
            </a:r>
            <a:endParaRPr lang="en-US" sz="2600" dirty="0"/>
          </a:p>
        </p:txBody>
      </p:sp>
      <p:sp>
        <p:nvSpPr>
          <p:cNvPr id="50" name="Shape 43">
            <a:extLst>
              <a:ext uri="{FF2B5EF4-FFF2-40B4-BE49-F238E27FC236}">
                <a16:creationId xmlns:a16="http://schemas.microsoft.com/office/drawing/2014/main" id="{3CEB558A-CB9D-B0ED-D41B-B553268A6B5B}"/>
              </a:ext>
            </a:extLst>
          </p:cNvPr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4">
            <a:extLst>
              <a:ext uri="{FF2B5EF4-FFF2-40B4-BE49-F238E27FC236}">
                <a16:creationId xmlns:a16="http://schemas.microsoft.com/office/drawing/2014/main" id="{97D679B4-9EF0-E90F-E0A0-1CA853703752}"/>
              </a:ext>
            </a:extLst>
          </p:cNvPr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52" name="Text 45">
            <a:extLst>
              <a:ext uri="{FF2B5EF4-FFF2-40B4-BE49-F238E27FC236}">
                <a16:creationId xmlns:a16="http://schemas.microsoft.com/office/drawing/2014/main" id="{8CC8AD58-EE33-2644-6F22-E069528B788E}"/>
              </a:ext>
            </a:extLst>
          </p:cNvPr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9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5DF65DD3-0506-2E9B-517B-2839DF322FE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981" b="6913"/>
          <a:stretch>
            <a:fillRect/>
          </a:stretch>
        </p:blipFill>
        <p:spPr>
          <a:xfrm>
            <a:off x="300341" y="913142"/>
            <a:ext cx="11286517" cy="5273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702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&amp; Procurement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academic project — minimal real spend, with a simulated PM exercise for comparison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10972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77240" y="1627632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999" y="1758391"/>
            <a:ext cx="332842" cy="33284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54480" y="14630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CASH OUTLAY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554480" y="173736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$36 AUD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758952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Pro subscription (≈$12/month × 3 months).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>
                <a:solidFill>
                  <a:srgbClr val="E0F2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is open-source or free academic-tier access.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FIRST PROCUREMENT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01752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3017520"/>
            <a:ext cx="73152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713232" y="310896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874" y="3219602"/>
            <a:ext cx="281635" cy="2816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71600" y="3063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&amp; TERN API access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1371600" y="3337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CC BY 4.0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Required: Before Sprint 2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548640" y="379476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48640" y="3794760"/>
            <a:ext cx="73152" cy="68580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713232" y="3886200"/>
            <a:ext cx="502920" cy="50292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874" y="3996842"/>
            <a:ext cx="281635" cy="281635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371600" y="38404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Pro (GPU)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371600" y="41148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≈$12 AUD/month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Required: Before Sprint 4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48640" y="457200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548640" y="4572000"/>
            <a:ext cx="73152" cy="68580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2"/>
          <p:cNvSpPr/>
          <p:nvPr/>
        </p:nvSpPr>
        <p:spPr>
          <a:xfrm>
            <a:off x="713232" y="4663440"/>
            <a:ext cx="502920" cy="50292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74" y="4774082"/>
            <a:ext cx="281635" cy="281635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71600" y="4617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+ DVC storage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1371600" y="4892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2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education plan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Required: Before Sprint 1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548640" y="5349240"/>
            <a:ext cx="5486400" cy="68580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548640" y="5349240"/>
            <a:ext cx="73152" cy="6858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713232" y="54406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3874" y="5551322"/>
            <a:ext cx="281635" cy="281635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371600" y="5394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/ TimesFM weights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1371600" y="5669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 ·  Apache 2.0</a:t>
            </a: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Required: Before Sprint 4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263640" y="2697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COMMERCIAL BUDGET</a:t>
            </a:r>
            <a:endParaRPr lang="en-US" sz="1100" dirty="0"/>
          </a:p>
        </p:txBody>
      </p:sp>
      <p:sp>
        <p:nvSpPr>
          <p:cNvPr id="38" name="Text 31"/>
          <p:cNvSpPr/>
          <p:nvPr/>
        </p:nvSpPr>
        <p:spPr>
          <a:xfrm>
            <a:off x="6263640" y="29443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(PMBOK cost-management exercise — not real spend)</a:t>
            </a:r>
            <a:endParaRPr lang="en-US" sz="9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6263640" y="3200400"/>
          <a:ext cx="54864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0" name="Shape 32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solidFill>
            <a:srgbClr val="ED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3"/>
          <p:cNvSpPr/>
          <p:nvPr/>
        </p:nvSpPr>
        <p:spPr>
          <a:xfrm>
            <a:off x="68580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97B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$17,700 figure represents simulated labour-hour costs at notional industry rates — a PMBOK-style cost-baseline exercise from Assessment 1, not an actual invoice.</a:t>
            </a:r>
            <a:endParaRPr lang="en-US" sz="1000" dirty="0"/>
          </a:p>
        </p:txBody>
      </p:sp>
      <p:sp>
        <p:nvSpPr>
          <p:cNvPr id="42" name="Shape 34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5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Also Built an MVP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ITEC630 grades the plan — but we wanted proof the plan is buildable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solidFill>
            <a:srgbClr val="E0F2F1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13232" y="150876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816" y="160934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417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bother with an MVP when this course is about project management?  </a:t>
            </a:r>
            <a:r>
              <a:rPr lang="en-US" sz="1300" i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a plan you can't execute is just a wish-list. Building an MVP lets us de-risk every technical assumption in the PMP.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2286000"/>
            <a:ext cx="3611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48640" y="2286000"/>
            <a:ext cx="3611880" cy="914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1851660" y="2651760"/>
            <a:ext cx="1005840" cy="100584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945" y="2873045"/>
            <a:ext cx="563270" cy="5632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31520" y="3840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Risk Estimates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22960" y="42976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GPU memory blows up in MVP testing, we know exactly where to harden Sprint 5 — before it becomes a real-deadline crisis.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320540" y="2286000"/>
            <a:ext cx="3611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4320540" y="2286000"/>
            <a:ext cx="3611880" cy="914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5623560" y="2651760"/>
            <a:ext cx="1005840" cy="10058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4845" y="2873045"/>
            <a:ext cx="563270" cy="56327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503420" y="3840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Confirms Feasibility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594860" y="42976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Chronos-2 zero-shot on a single MDB station proves the foundation-model approach works on our actual data, not just paper benchmarks.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092440" y="2286000"/>
            <a:ext cx="361188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92440" y="2286000"/>
            <a:ext cx="3611880" cy="9144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9"/>
          <p:cNvSpPr/>
          <p:nvPr/>
        </p:nvSpPr>
        <p:spPr>
          <a:xfrm>
            <a:off x="9395460" y="2651760"/>
            <a:ext cx="1005840" cy="100584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6745" y="2873045"/>
            <a:ext cx="563270" cy="56327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75320" y="384048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Stakeholder Trust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366760" y="4297680"/>
            <a:ext cx="3063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demo, however rough, is more persuasive than 30 pages of plans. Supervisors see we'll deliver — and so do we.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548640" y="5532120"/>
            <a:ext cx="11064240" cy="105156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3"/>
          <p:cNvSpPr/>
          <p:nvPr/>
        </p:nvSpPr>
        <p:spPr>
          <a:xfrm>
            <a:off x="777240" y="5623560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SCOPE — what's already built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 data extraction script (single station)   </a:t>
            </a:r>
            <a:r>
              <a:rPr lang="en-US" sz="1200" b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baseline trained   </a:t>
            </a:r>
            <a:r>
              <a:rPr lang="en-US" sz="1200" b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Chronos-2 zero-shot output  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dashboard skeleton   </a:t>
            </a:r>
            <a:r>
              <a:rPr lang="en-US" sz="1200" b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 + Jira board live   </a:t>
            </a:r>
            <a:r>
              <a:rPr lang="en-US" sz="1200" b="1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KGE/RMSE evaluation script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D73F443-19AE-814B-CC06-925EF81C5ACF}"/>
              </a:ext>
            </a:extLst>
          </p:cNvPr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5A3DB11C-6BCF-CD99-F77F-D821A9093815}"/>
              </a:ext>
            </a:extLst>
          </p:cNvPr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9FC18D-8A42-46AC-C78D-6536922E588B}"/>
              </a:ext>
            </a:extLst>
          </p:cNvPr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Also Built an MVP</a:t>
            </a:r>
            <a:endParaRPr lang="en-US" sz="260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51928E2F-C2ED-6EFC-61CF-944E2074E279}"/>
              </a:ext>
            </a:extLst>
          </p:cNvPr>
          <p:cNvSpPr/>
          <p:nvPr/>
        </p:nvSpPr>
        <p:spPr>
          <a:xfrm>
            <a:off x="777240" y="5897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extraction script (script</a:t>
            </a:r>
            <a:endParaRPr lang="en-US" sz="1200" dirty="0"/>
          </a:p>
        </p:txBody>
      </p:sp>
      <p:sp>
        <p:nvSpPr>
          <p:cNvPr id="31" name="Shape 25">
            <a:extLst>
              <a:ext uri="{FF2B5EF4-FFF2-40B4-BE49-F238E27FC236}">
                <a16:creationId xmlns:a16="http://schemas.microsoft.com/office/drawing/2014/main" id="{D7987F5E-B4A2-6702-13D8-12DB286436A3}"/>
              </a:ext>
            </a:extLst>
          </p:cNvPr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6">
            <a:extLst>
              <a:ext uri="{FF2B5EF4-FFF2-40B4-BE49-F238E27FC236}">
                <a16:creationId xmlns:a16="http://schemas.microsoft.com/office/drawing/2014/main" id="{6262963B-6473-0B28-D81F-330FF9E334E1}"/>
              </a:ext>
            </a:extLst>
          </p:cNvPr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7ACE590E-B78C-D9AC-24D8-D8260434BE48}"/>
              </a:ext>
            </a:extLst>
          </p:cNvPr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9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E04F674D-6E8C-27B2-69D7-7EDED9B5E6C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1731" b="7397"/>
          <a:stretch>
            <a:fillRect/>
          </a:stretch>
        </p:blipFill>
        <p:spPr>
          <a:xfrm>
            <a:off x="1357745" y="1482436"/>
            <a:ext cx="8988829" cy="4087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92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475720" y="0"/>
            <a:ext cx="713232" cy="77724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14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remember five things, remember these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109728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37160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1417320" y="15087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079" y="1639519"/>
            <a:ext cx="332842" cy="33284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2402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novelty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24028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rigorous benchmark of Chronos-2 and TimesFM 2.5 on Murray-Darling Basin soil-moisture data.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331720"/>
            <a:ext cx="110642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48640" y="2331720"/>
            <a:ext cx="109728" cy="86868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77240" y="233172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Shape 13"/>
          <p:cNvSpPr/>
          <p:nvPr/>
        </p:nvSpPr>
        <p:spPr>
          <a:xfrm>
            <a:off x="1417320" y="2468880"/>
            <a:ext cx="594360" cy="59436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079" y="2599639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240280" y="2423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methodology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2240280" y="2788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Agile sprints provide rhythm; CRISP-DM phases provide scientific rigour. Best of both worlds.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548640" y="3291840"/>
            <a:ext cx="110642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48640" y="3291840"/>
            <a:ext cx="109728" cy="868680"/>
          </a:xfrm>
          <a:prstGeom prst="rect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777240" y="329184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7B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Shape 19"/>
          <p:cNvSpPr/>
          <p:nvPr/>
        </p:nvSpPr>
        <p:spPr>
          <a:xfrm>
            <a:off x="1417320" y="3429000"/>
            <a:ext cx="594360" cy="594360"/>
          </a:xfrm>
          <a:prstGeom prst="ellipse">
            <a:avLst/>
          </a:prstGeom>
          <a:solidFill>
            <a:srgbClr val="C97B2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8079" y="3559759"/>
            <a:ext cx="332842" cy="33284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2240280" y="3383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risk plan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2240280" y="3749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limits, API downtime, model underperformance — each has a concrete mitigation already in place.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48640" y="4251960"/>
            <a:ext cx="110642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3"/>
          <p:cNvSpPr/>
          <p:nvPr/>
        </p:nvSpPr>
        <p:spPr>
          <a:xfrm>
            <a:off x="548640" y="4251960"/>
            <a:ext cx="109728" cy="86868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777240" y="425196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Shape 25"/>
          <p:cNvSpPr/>
          <p:nvPr/>
        </p:nvSpPr>
        <p:spPr>
          <a:xfrm>
            <a:off x="1417320" y="438912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48079" y="4519879"/>
            <a:ext cx="332842" cy="33284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2240280" y="4343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Five-person team, clear roles</a:t>
            </a:r>
            <a:endParaRPr lang="en-US" sz="1600" dirty="0"/>
          </a:p>
        </p:txBody>
      </p:sp>
      <p:sp>
        <p:nvSpPr>
          <p:cNvPr id="33" name="Text 27"/>
          <p:cNvSpPr/>
          <p:nvPr/>
        </p:nvSpPr>
        <p:spPr>
          <a:xfrm>
            <a:off x="2240280" y="47091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PM, Data, Software, Quality, Comms — no overlap, no gaps, every sprint owned.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48640" y="5212080"/>
            <a:ext cx="110642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548640" y="5212080"/>
            <a:ext cx="109728" cy="86868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777240" y="5212080"/>
            <a:ext cx="548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37" name="Shape 31"/>
          <p:cNvSpPr/>
          <p:nvPr/>
        </p:nvSpPr>
        <p:spPr>
          <a:xfrm>
            <a:off x="1417320" y="5349240"/>
            <a:ext cx="594360" cy="594360"/>
          </a:xfrm>
          <a:prstGeom prst="ellipse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8079" y="5479999"/>
            <a:ext cx="332842" cy="332842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2240280" y="53035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alignment</a:t>
            </a:r>
            <a:endParaRPr lang="en-US" sz="1600" dirty="0"/>
          </a:p>
        </p:txBody>
      </p:sp>
      <p:sp>
        <p:nvSpPr>
          <p:cNvPr id="40" name="Text 33"/>
          <p:cNvSpPr/>
          <p:nvPr/>
        </p:nvSpPr>
        <p:spPr>
          <a:xfrm>
            <a:off x="2240280" y="5669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 Code of Ethics + environmental stewardship: optimise water use for farmers, not commercial extraction.</a:t>
            </a:r>
            <a:endParaRPr lang="en-US" sz="1200" dirty="0"/>
          </a:p>
        </p:txBody>
      </p:sp>
      <p:sp>
        <p:nvSpPr>
          <p:cNvPr id="41" name="Text 3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drop counts. AI helps us count them.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457200" y="6583680"/>
            <a:ext cx="11247120" cy="13716"/>
          </a:xfrm>
          <a:prstGeom prst="rect">
            <a:avLst/>
          </a:prstGeom>
          <a:solidFill>
            <a:srgbClr val="CBD5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6"/>
          <p:cNvSpPr/>
          <p:nvPr/>
        </p:nvSpPr>
        <p:spPr>
          <a:xfrm>
            <a:off x="457200" y="66294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DeepMoisture  •  ITEC630  •  Team SANSS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10515600" y="6629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389120" cy="6858000"/>
          </a:xfrm>
          <a:prstGeom prst="rect">
            <a:avLst/>
          </a:prstGeom>
          <a:solidFill>
            <a:srgbClr val="0F2D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4389120" y="0"/>
            <a:ext cx="73152" cy="6858000"/>
          </a:xfrm>
          <a:prstGeom prst="rect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691640" y="2194560"/>
            <a:ext cx="1005840" cy="100584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2925" y="2415845"/>
            <a:ext cx="563270" cy="5632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657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402336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4617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your feedback.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937760" y="10972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7A2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APPRECIATE YOUR INPUT ON: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937760" y="1600200"/>
            <a:ext cx="6766560" cy="960120"/>
          </a:xfrm>
          <a:prstGeom prst="rect">
            <a:avLst/>
          </a:prstGeom>
          <a:solidFill>
            <a:srgbClr val="0F2D4A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74920" y="182880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85562" y="1939442"/>
            <a:ext cx="281635" cy="28163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60720" y="171907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realism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760720" y="203911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our scope ambitious yet achievable in 14 weeks?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937760" y="2697480"/>
            <a:ext cx="6766560" cy="960120"/>
          </a:xfrm>
          <a:prstGeom prst="rect">
            <a:avLst/>
          </a:prstGeom>
          <a:solidFill>
            <a:srgbClr val="0F2D4A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074920" y="292608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85562" y="3036722"/>
            <a:ext cx="281635" cy="28163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760720" y="281635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coverage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5760720" y="313639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there technical risks we're missing for foundation models?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937760" y="3794760"/>
            <a:ext cx="6766560" cy="960120"/>
          </a:xfrm>
          <a:prstGeom prst="rect">
            <a:avLst/>
          </a:prstGeom>
          <a:solidFill>
            <a:srgbClr val="0F2D4A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5074920" y="402336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5562" y="4134002"/>
            <a:ext cx="281635" cy="28163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60720" y="391363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reach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760720" y="423367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we engage MDB farmers earlier in user testing?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937760" y="4892040"/>
            <a:ext cx="6766560" cy="960120"/>
          </a:xfrm>
          <a:prstGeom prst="rect">
            <a:avLst/>
          </a:prstGeom>
          <a:solidFill>
            <a:srgbClr val="0F2D4A"/>
          </a:solidFill>
          <a:ln w="635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0"/>
          <p:cNvSpPr/>
          <p:nvPr/>
        </p:nvSpPr>
        <p:spPr>
          <a:xfrm>
            <a:off x="5074920" y="5120640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85562" y="5231282"/>
            <a:ext cx="281635" cy="28163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760720" y="5010912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400" dirty="0"/>
          </a:p>
        </p:txBody>
      </p:sp>
      <p:sp>
        <p:nvSpPr>
          <p:cNvPr id="29" name="Text 22"/>
          <p:cNvSpPr/>
          <p:nvPr/>
        </p:nvSpPr>
        <p:spPr>
          <a:xfrm>
            <a:off x="5760720" y="5330952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KGE/RMSE the right yardsticks — or should we add CRPS?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SANSS  •  ITEC630  •  Australian Catholic University  •  Semester 1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2800</Words>
  <Application>Microsoft Office PowerPoint</Application>
  <PresentationFormat>Widescreen</PresentationFormat>
  <Paragraphs>507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Australian Catholic University - ITEC630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DeepMoisture - Project Management Plan</dc:title>
  <dc:subject>PptxGenJS Presentation</dc:subject>
  <dc:creator>Team SANSS</dc:creator>
  <cp:lastModifiedBy>Amir  Tamang</cp:lastModifiedBy>
  <cp:revision>2</cp:revision>
  <dcterms:created xsi:type="dcterms:W3CDTF">2026-05-21T05:53:06Z</dcterms:created>
  <dcterms:modified xsi:type="dcterms:W3CDTF">2026-06-01T00:33:11Z</dcterms:modified>
</cp:coreProperties>
</file>