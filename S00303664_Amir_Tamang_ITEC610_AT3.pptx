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ontserrat" panose="00000500000000000000" pitchFamily="2" charset="0"/>
      <p:regular r:id="rId12"/>
    </p:embeddedFont>
    <p:embeddedFont>
      <p:font typeface="Nixie One" panose="020B0604020202020204" charset="0"/>
      <p:regular r:id="rId13"/>
    </p:embeddedFont>
    <p:embeddedFont>
      <p:font typeface="Open Sauce"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114890" y="0"/>
            <a:ext cx="10733027" cy="10692778"/>
          </a:xfrm>
          <a:custGeom>
            <a:avLst/>
            <a:gdLst/>
            <a:ahLst/>
            <a:cxnLst/>
            <a:rect l="l" t="t" r="r" b="b"/>
            <a:pathLst>
              <a:path w="10733027" h="10692778">
                <a:moveTo>
                  <a:pt x="0" y="0"/>
                </a:moveTo>
                <a:lnTo>
                  <a:pt x="10733028" y="0"/>
                </a:lnTo>
                <a:lnTo>
                  <a:pt x="10733028" y="10692778"/>
                </a:lnTo>
                <a:lnTo>
                  <a:pt x="0" y="10692778"/>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042506" y="-803971"/>
            <a:ext cx="12087258" cy="11894941"/>
            <a:chOff x="0" y="0"/>
            <a:chExt cx="3183475" cy="3132824"/>
          </a:xfrm>
        </p:grpSpPr>
        <p:sp>
          <p:nvSpPr>
            <p:cNvPr id="4" name="Freeform 4"/>
            <p:cNvSpPr/>
            <p:nvPr/>
          </p:nvSpPr>
          <p:spPr>
            <a:xfrm>
              <a:off x="0" y="0"/>
              <a:ext cx="3183475" cy="3132824"/>
            </a:xfrm>
            <a:custGeom>
              <a:avLst/>
              <a:gdLst/>
              <a:ahLst/>
              <a:cxnLst/>
              <a:rect l="l" t="t" r="r" b="b"/>
              <a:pathLst>
                <a:path w="3183475" h="3132824">
                  <a:moveTo>
                    <a:pt x="64050" y="0"/>
                  </a:moveTo>
                  <a:lnTo>
                    <a:pt x="3119425" y="0"/>
                  </a:lnTo>
                  <a:cubicBezTo>
                    <a:pt x="3154799" y="0"/>
                    <a:pt x="3183475" y="28676"/>
                    <a:pt x="3183475" y="64050"/>
                  </a:cubicBezTo>
                  <a:lnTo>
                    <a:pt x="3183475" y="3068774"/>
                  </a:lnTo>
                  <a:cubicBezTo>
                    <a:pt x="3183475" y="3104148"/>
                    <a:pt x="3154799" y="3132824"/>
                    <a:pt x="3119425" y="3132824"/>
                  </a:cubicBezTo>
                  <a:lnTo>
                    <a:pt x="64050" y="3132824"/>
                  </a:lnTo>
                  <a:cubicBezTo>
                    <a:pt x="28676" y="3132824"/>
                    <a:pt x="0" y="3104148"/>
                    <a:pt x="0" y="3068774"/>
                  </a:cubicBezTo>
                  <a:lnTo>
                    <a:pt x="0" y="64050"/>
                  </a:lnTo>
                  <a:cubicBezTo>
                    <a:pt x="0" y="28676"/>
                    <a:pt x="28676" y="0"/>
                    <a:pt x="64050" y="0"/>
                  </a:cubicBezTo>
                  <a:close/>
                </a:path>
              </a:pathLst>
            </a:custGeom>
            <a:solidFill>
              <a:srgbClr val="343A48"/>
            </a:solidFill>
          </p:spPr>
          <p:txBody>
            <a:bodyPr/>
            <a:lstStyle/>
            <a:p>
              <a:endParaRPr lang="en-US"/>
            </a:p>
          </p:txBody>
        </p:sp>
        <p:sp>
          <p:nvSpPr>
            <p:cNvPr id="5" name="TextBox 5"/>
            <p:cNvSpPr txBox="1"/>
            <p:nvPr/>
          </p:nvSpPr>
          <p:spPr>
            <a:xfrm>
              <a:off x="0" y="-47625"/>
              <a:ext cx="3183475" cy="3180449"/>
            </a:xfrm>
            <a:prstGeom prst="rect">
              <a:avLst/>
            </a:prstGeom>
          </p:spPr>
          <p:txBody>
            <a:bodyPr lIns="50800" tIns="50800" rIns="50800" bIns="50800" rtlCol="0" anchor="ctr"/>
            <a:lstStyle/>
            <a:p>
              <a:pPr algn="ctr">
                <a:lnSpc>
                  <a:spcPts val="3359"/>
                </a:lnSpc>
              </a:pPr>
              <a:endParaRPr/>
            </a:p>
          </p:txBody>
        </p:sp>
      </p:grpSp>
      <p:sp>
        <p:nvSpPr>
          <p:cNvPr id="6" name="TextBox 6"/>
          <p:cNvSpPr txBox="1"/>
          <p:nvPr/>
        </p:nvSpPr>
        <p:spPr>
          <a:xfrm>
            <a:off x="947220" y="2660879"/>
            <a:ext cx="10097532" cy="5089067"/>
          </a:xfrm>
          <a:prstGeom prst="rect">
            <a:avLst/>
          </a:prstGeom>
        </p:spPr>
        <p:txBody>
          <a:bodyPr lIns="0" tIns="0" rIns="0" bIns="0" rtlCol="0" anchor="t">
            <a:spAutoFit/>
          </a:bodyPr>
          <a:lstStyle/>
          <a:p>
            <a:pPr algn="l">
              <a:lnSpc>
                <a:spcPts val="7980"/>
              </a:lnSpc>
            </a:pPr>
            <a:r>
              <a:rPr lang="en-US" sz="7748">
                <a:solidFill>
                  <a:srgbClr val="FFFFFF"/>
                </a:solidFill>
                <a:latin typeface="Montserrat"/>
                <a:ea typeface="Montserrat"/>
                <a:cs typeface="Montserrat"/>
                <a:sym typeface="Montserrat"/>
              </a:rPr>
              <a:t>ASSESSMENT 3: DATA PROCESSING AND EXPLORATION PROJECT</a:t>
            </a:r>
          </a:p>
          <a:p>
            <a:pPr algn="l">
              <a:lnSpc>
                <a:spcPts val="7980"/>
              </a:lnSpc>
            </a:pPr>
            <a:endParaRPr lang="en-US" sz="7748">
              <a:solidFill>
                <a:srgbClr val="FFFFFF"/>
              </a:solidFill>
              <a:latin typeface="Montserrat"/>
              <a:ea typeface="Montserrat"/>
              <a:cs typeface="Montserrat"/>
              <a:sym typeface="Montserrat"/>
            </a:endParaRPr>
          </a:p>
        </p:txBody>
      </p:sp>
      <p:sp>
        <p:nvSpPr>
          <p:cNvPr id="7" name="TextBox 7"/>
          <p:cNvSpPr txBox="1"/>
          <p:nvPr/>
        </p:nvSpPr>
        <p:spPr>
          <a:xfrm>
            <a:off x="1106872" y="7112253"/>
            <a:ext cx="3837101" cy="483317"/>
          </a:xfrm>
          <a:prstGeom prst="rect">
            <a:avLst/>
          </a:prstGeom>
        </p:spPr>
        <p:txBody>
          <a:bodyPr lIns="0" tIns="0" rIns="0" bIns="0" rtlCol="0" anchor="t">
            <a:spAutoFit/>
          </a:bodyPr>
          <a:lstStyle/>
          <a:p>
            <a:pPr algn="l">
              <a:lnSpc>
                <a:spcPts val="3610"/>
              </a:lnSpc>
            </a:pPr>
            <a:r>
              <a:rPr lang="en-US" sz="3505">
                <a:solidFill>
                  <a:srgbClr val="FFFFFF"/>
                </a:solidFill>
                <a:latin typeface="Montserrat"/>
                <a:ea typeface="Montserrat"/>
                <a:cs typeface="Montserrat"/>
                <a:sym typeface="Montserrat"/>
              </a:rPr>
              <a:t>S00393664</a:t>
            </a:r>
          </a:p>
        </p:txBody>
      </p:sp>
      <p:sp>
        <p:nvSpPr>
          <p:cNvPr id="8" name="TextBox 8"/>
          <p:cNvSpPr txBox="1"/>
          <p:nvPr/>
        </p:nvSpPr>
        <p:spPr>
          <a:xfrm>
            <a:off x="1106872" y="1743075"/>
            <a:ext cx="3837101" cy="483317"/>
          </a:xfrm>
          <a:prstGeom prst="rect">
            <a:avLst/>
          </a:prstGeom>
        </p:spPr>
        <p:txBody>
          <a:bodyPr lIns="0" tIns="0" rIns="0" bIns="0" rtlCol="0" anchor="t">
            <a:spAutoFit/>
          </a:bodyPr>
          <a:lstStyle/>
          <a:p>
            <a:pPr algn="l">
              <a:lnSpc>
                <a:spcPts val="3610"/>
              </a:lnSpc>
            </a:pPr>
            <a:r>
              <a:rPr lang="en-US" sz="3505">
                <a:solidFill>
                  <a:srgbClr val="FFFFFF"/>
                </a:solidFill>
                <a:latin typeface="Montserrat"/>
                <a:ea typeface="Montserrat"/>
                <a:cs typeface="Montserrat"/>
                <a:sym typeface="Montserrat"/>
              </a:rPr>
              <a:t>ITEC610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sp>
        <p:nvSpPr>
          <p:cNvPr id="2" name="Freeform 2"/>
          <p:cNvSpPr/>
          <p:nvPr/>
        </p:nvSpPr>
        <p:spPr>
          <a:xfrm>
            <a:off x="-7002605" y="-331662"/>
            <a:ext cx="10733027" cy="10692778"/>
          </a:xfrm>
          <a:custGeom>
            <a:avLst/>
            <a:gdLst/>
            <a:ahLst/>
            <a:cxnLst/>
            <a:rect l="l" t="t" r="r" b="b"/>
            <a:pathLst>
              <a:path w="10733027" h="10692778">
                <a:moveTo>
                  <a:pt x="0" y="0"/>
                </a:moveTo>
                <a:lnTo>
                  <a:pt x="10733027" y="0"/>
                </a:lnTo>
                <a:lnTo>
                  <a:pt x="10733027" y="10692778"/>
                </a:lnTo>
                <a:lnTo>
                  <a:pt x="0" y="10692778"/>
                </a:lnTo>
                <a:lnTo>
                  <a:pt x="0" y="0"/>
                </a:lnTo>
                <a:close/>
              </a:path>
            </a:pathLst>
          </a:custGeom>
          <a:blipFill>
            <a:blip r:embed="rId2"/>
            <a:stretch>
              <a:fillRect/>
            </a:stretch>
          </a:blipFill>
        </p:spPr>
        <p:txBody>
          <a:bodyPr/>
          <a:lstStyle/>
          <a:p>
            <a:endParaRPr lang="en-US"/>
          </a:p>
        </p:txBody>
      </p:sp>
      <p:sp>
        <p:nvSpPr>
          <p:cNvPr id="3" name="Freeform 3"/>
          <p:cNvSpPr/>
          <p:nvPr/>
        </p:nvSpPr>
        <p:spPr>
          <a:xfrm>
            <a:off x="14557578" y="-331662"/>
            <a:ext cx="10733027" cy="10692778"/>
          </a:xfrm>
          <a:custGeom>
            <a:avLst/>
            <a:gdLst/>
            <a:ahLst/>
            <a:cxnLst/>
            <a:rect l="l" t="t" r="r" b="b"/>
            <a:pathLst>
              <a:path w="10733027" h="10692778">
                <a:moveTo>
                  <a:pt x="0" y="0"/>
                </a:moveTo>
                <a:lnTo>
                  <a:pt x="10733027" y="0"/>
                </a:lnTo>
                <a:lnTo>
                  <a:pt x="10733027" y="10692778"/>
                </a:lnTo>
                <a:lnTo>
                  <a:pt x="0" y="10692778"/>
                </a:lnTo>
                <a:lnTo>
                  <a:pt x="0" y="0"/>
                </a:lnTo>
                <a:close/>
              </a:path>
            </a:pathLst>
          </a:custGeom>
          <a:blipFill>
            <a:blip r:embed="rId2"/>
            <a:stretch>
              <a:fillRect/>
            </a:stretch>
          </a:blipFill>
        </p:spPr>
        <p:txBody>
          <a:bodyPr/>
          <a:lstStyle/>
          <a:p>
            <a:endParaRPr lang="en-US"/>
          </a:p>
        </p:txBody>
      </p:sp>
      <p:grpSp>
        <p:nvGrpSpPr>
          <p:cNvPr id="4" name="Group 4"/>
          <p:cNvGrpSpPr/>
          <p:nvPr/>
        </p:nvGrpSpPr>
        <p:grpSpPr>
          <a:xfrm>
            <a:off x="2134217" y="0"/>
            <a:ext cx="13999438" cy="11894941"/>
            <a:chOff x="0" y="0"/>
            <a:chExt cx="3687095" cy="3132824"/>
          </a:xfrm>
        </p:grpSpPr>
        <p:sp>
          <p:nvSpPr>
            <p:cNvPr id="5" name="Freeform 5"/>
            <p:cNvSpPr/>
            <p:nvPr/>
          </p:nvSpPr>
          <p:spPr>
            <a:xfrm>
              <a:off x="0" y="0"/>
              <a:ext cx="3687095" cy="3132824"/>
            </a:xfrm>
            <a:custGeom>
              <a:avLst/>
              <a:gdLst/>
              <a:ahLst/>
              <a:cxnLst/>
              <a:rect l="l" t="t" r="r" b="b"/>
              <a:pathLst>
                <a:path w="3687095" h="3132824">
                  <a:moveTo>
                    <a:pt x="55302" y="0"/>
                  </a:moveTo>
                  <a:lnTo>
                    <a:pt x="3631793" y="0"/>
                  </a:lnTo>
                  <a:cubicBezTo>
                    <a:pt x="3662335" y="0"/>
                    <a:pt x="3687095" y="24759"/>
                    <a:pt x="3687095" y="55302"/>
                  </a:cubicBezTo>
                  <a:lnTo>
                    <a:pt x="3687095" y="3077522"/>
                  </a:lnTo>
                  <a:cubicBezTo>
                    <a:pt x="3687095" y="3108065"/>
                    <a:pt x="3662335" y="3132824"/>
                    <a:pt x="3631793" y="3132824"/>
                  </a:cubicBezTo>
                  <a:lnTo>
                    <a:pt x="55302" y="3132824"/>
                  </a:lnTo>
                  <a:cubicBezTo>
                    <a:pt x="24759" y="3132824"/>
                    <a:pt x="0" y="3108065"/>
                    <a:pt x="0" y="3077522"/>
                  </a:cubicBezTo>
                  <a:lnTo>
                    <a:pt x="0" y="55302"/>
                  </a:lnTo>
                  <a:cubicBezTo>
                    <a:pt x="0" y="24759"/>
                    <a:pt x="24759" y="0"/>
                    <a:pt x="55302" y="0"/>
                  </a:cubicBezTo>
                  <a:close/>
                </a:path>
              </a:pathLst>
            </a:custGeom>
            <a:solidFill>
              <a:srgbClr val="343A48"/>
            </a:solidFill>
          </p:spPr>
          <p:txBody>
            <a:bodyPr/>
            <a:lstStyle/>
            <a:p>
              <a:endParaRPr lang="en-US"/>
            </a:p>
          </p:txBody>
        </p:sp>
        <p:sp>
          <p:nvSpPr>
            <p:cNvPr id="6" name="TextBox 6"/>
            <p:cNvSpPr txBox="1"/>
            <p:nvPr/>
          </p:nvSpPr>
          <p:spPr>
            <a:xfrm>
              <a:off x="0" y="-47625"/>
              <a:ext cx="3687095" cy="3180449"/>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2774867" y="2531396"/>
            <a:ext cx="1088194" cy="1088194"/>
            <a:chOff x="0" y="0"/>
            <a:chExt cx="468666" cy="468666"/>
          </a:xfrm>
        </p:grpSpPr>
        <p:sp>
          <p:nvSpPr>
            <p:cNvPr id="8" name="Freeform 8"/>
            <p:cNvSpPr/>
            <p:nvPr/>
          </p:nvSpPr>
          <p:spPr>
            <a:xfrm>
              <a:off x="0" y="0"/>
              <a:ext cx="468666" cy="468666"/>
            </a:xfrm>
            <a:custGeom>
              <a:avLst/>
              <a:gdLst/>
              <a:ahLst/>
              <a:cxnLst/>
              <a:rect l="l" t="t" r="r" b="b"/>
              <a:pathLst>
                <a:path w="468666" h="468666">
                  <a:moveTo>
                    <a:pt x="213434" y="0"/>
                  </a:moveTo>
                  <a:lnTo>
                    <a:pt x="255232" y="0"/>
                  </a:lnTo>
                  <a:cubicBezTo>
                    <a:pt x="311838" y="0"/>
                    <a:pt x="366126" y="22487"/>
                    <a:pt x="406153" y="62513"/>
                  </a:cubicBezTo>
                  <a:cubicBezTo>
                    <a:pt x="446179" y="102540"/>
                    <a:pt x="468666" y="156828"/>
                    <a:pt x="468666" y="213434"/>
                  </a:cubicBezTo>
                  <a:lnTo>
                    <a:pt x="468666" y="255232"/>
                  </a:lnTo>
                  <a:cubicBezTo>
                    <a:pt x="468666" y="373108"/>
                    <a:pt x="373108" y="468666"/>
                    <a:pt x="255232" y="468666"/>
                  </a:cubicBezTo>
                  <a:lnTo>
                    <a:pt x="213434" y="468666"/>
                  </a:lnTo>
                  <a:cubicBezTo>
                    <a:pt x="95558" y="468666"/>
                    <a:pt x="0" y="373108"/>
                    <a:pt x="0" y="255232"/>
                  </a:cubicBezTo>
                  <a:lnTo>
                    <a:pt x="0" y="213434"/>
                  </a:lnTo>
                  <a:cubicBezTo>
                    <a:pt x="0" y="95558"/>
                    <a:pt x="95558" y="0"/>
                    <a:pt x="213434"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9" name="TextBox 9"/>
            <p:cNvSpPr txBox="1"/>
            <p:nvPr/>
          </p:nvSpPr>
          <p:spPr>
            <a:xfrm>
              <a:off x="0" y="-47625"/>
              <a:ext cx="468666" cy="516291"/>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2774867" y="4004770"/>
            <a:ext cx="1088194" cy="1088194"/>
            <a:chOff x="0" y="0"/>
            <a:chExt cx="468666" cy="468666"/>
          </a:xfrm>
        </p:grpSpPr>
        <p:sp>
          <p:nvSpPr>
            <p:cNvPr id="11" name="Freeform 11"/>
            <p:cNvSpPr/>
            <p:nvPr/>
          </p:nvSpPr>
          <p:spPr>
            <a:xfrm>
              <a:off x="0" y="0"/>
              <a:ext cx="468666" cy="468666"/>
            </a:xfrm>
            <a:custGeom>
              <a:avLst/>
              <a:gdLst/>
              <a:ahLst/>
              <a:cxnLst/>
              <a:rect l="l" t="t" r="r" b="b"/>
              <a:pathLst>
                <a:path w="468666" h="468666">
                  <a:moveTo>
                    <a:pt x="213434" y="0"/>
                  </a:moveTo>
                  <a:lnTo>
                    <a:pt x="255232" y="0"/>
                  </a:lnTo>
                  <a:cubicBezTo>
                    <a:pt x="311838" y="0"/>
                    <a:pt x="366126" y="22487"/>
                    <a:pt x="406153" y="62513"/>
                  </a:cubicBezTo>
                  <a:cubicBezTo>
                    <a:pt x="446179" y="102540"/>
                    <a:pt x="468666" y="156828"/>
                    <a:pt x="468666" y="213434"/>
                  </a:cubicBezTo>
                  <a:lnTo>
                    <a:pt x="468666" y="255232"/>
                  </a:lnTo>
                  <a:cubicBezTo>
                    <a:pt x="468666" y="373108"/>
                    <a:pt x="373108" y="468666"/>
                    <a:pt x="255232" y="468666"/>
                  </a:cubicBezTo>
                  <a:lnTo>
                    <a:pt x="213434" y="468666"/>
                  </a:lnTo>
                  <a:cubicBezTo>
                    <a:pt x="95558" y="468666"/>
                    <a:pt x="0" y="373108"/>
                    <a:pt x="0" y="255232"/>
                  </a:cubicBezTo>
                  <a:lnTo>
                    <a:pt x="0" y="213434"/>
                  </a:lnTo>
                  <a:cubicBezTo>
                    <a:pt x="0" y="95558"/>
                    <a:pt x="95558" y="0"/>
                    <a:pt x="213434"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12" name="TextBox 12"/>
            <p:cNvSpPr txBox="1"/>
            <p:nvPr/>
          </p:nvSpPr>
          <p:spPr>
            <a:xfrm>
              <a:off x="0" y="-47625"/>
              <a:ext cx="468666" cy="516291"/>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2774867" y="5478144"/>
            <a:ext cx="1088194" cy="1088194"/>
            <a:chOff x="0" y="0"/>
            <a:chExt cx="468666" cy="468666"/>
          </a:xfrm>
        </p:grpSpPr>
        <p:sp>
          <p:nvSpPr>
            <p:cNvPr id="14" name="Freeform 14"/>
            <p:cNvSpPr/>
            <p:nvPr/>
          </p:nvSpPr>
          <p:spPr>
            <a:xfrm>
              <a:off x="0" y="0"/>
              <a:ext cx="468666" cy="468666"/>
            </a:xfrm>
            <a:custGeom>
              <a:avLst/>
              <a:gdLst/>
              <a:ahLst/>
              <a:cxnLst/>
              <a:rect l="l" t="t" r="r" b="b"/>
              <a:pathLst>
                <a:path w="468666" h="468666">
                  <a:moveTo>
                    <a:pt x="213434" y="0"/>
                  </a:moveTo>
                  <a:lnTo>
                    <a:pt x="255232" y="0"/>
                  </a:lnTo>
                  <a:cubicBezTo>
                    <a:pt x="311838" y="0"/>
                    <a:pt x="366126" y="22487"/>
                    <a:pt x="406153" y="62513"/>
                  </a:cubicBezTo>
                  <a:cubicBezTo>
                    <a:pt x="446179" y="102540"/>
                    <a:pt x="468666" y="156828"/>
                    <a:pt x="468666" y="213434"/>
                  </a:cubicBezTo>
                  <a:lnTo>
                    <a:pt x="468666" y="255232"/>
                  </a:lnTo>
                  <a:cubicBezTo>
                    <a:pt x="468666" y="373108"/>
                    <a:pt x="373108" y="468666"/>
                    <a:pt x="255232" y="468666"/>
                  </a:cubicBezTo>
                  <a:lnTo>
                    <a:pt x="213434" y="468666"/>
                  </a:lnTo>
                  <a:cubicBezTo>
                    <a:pt x="95558" y="468666"/>
                    <a:pt x="0" y="373108"/>
                    <a:pt x="0" y="255232"/>
                  </a:cubicBezTo>
                  <a:lnTo>
                    <a:pt x="0" y="213434"/>
                  </a:lnTo>
                  <a:cubicBezTo>
                    <a:pt x="0" y="95558"/>
                    <a:pt x="95558" y="0"/>
                    <a:pt x="213434"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15" name="TextBox 15"/>
            <p:cNvSpPr txBox="1"/>
            <p:nvPr/>
          </p:nvSpPr>
          <p:spPr>
            <a:xfrm>
              <a:off x="0" y="-47625"/>
              <a:ext cx="468666" cy="516291"/>
            </a:xfrm>
            <a:prstGeom prst="rect">
              <a:avLst/>
            </a:prstGeom>
          </p:spPr>
          <p:txBody>
            <a:bodyPr lIns="50800" tIns="50800" rIns="50800" bIns="50800" rtlCol="0" anchor="ctr"/>
            <a:lstStyle/>
            <a:p>
              <a:pPr algn="ctr">
                <a:lnSpc>
                  <a:spcPts val="3359"/>
                </a:lnSpc>
              </a:pPr>
              <a:endParaRPr/>
            </a:p>
          </p:txBody>
        </p:sp>
      </p:grpSp>
      <p:sp>
        <p:nvSpPr>
          <p:cNvPr id="16" name="TextBox 16"/>
          <p:cNvSpPr txBox="1"/>
          <p:nvPr/>
        </p:nvSpPr>
        <p:spPr>
          <a:xfrm>
            <a:off x="4059808" y="4331782"/>
            <a:ext cx="7049395" cy="445314"/>
          </a:xfrm>
          <a:prstGeom prst="rect">
            <a:avLst/>
          </a:prstGeom>
        </p:spPr>
        <p:txBody>
          <a:bodyPr lIns="0" tIns="0" rIns="0" bIns="0" rtlCol="0" anchor="t">
            <a:spAutoFit/>
          </a:bodyPr>
          <a:lstStyle/>
          <a:p>
            <a:pPr marL="0" lvl="0" indent="0" algn="l">
              <a:lnSpc>
                <a:spcPts val="3407"/>
              </a:lnSpc>
              <a:spcBef>
                <a:spcPct val="0"/>
              </a:spcBef>
            </a:pPr>
            <a:r>
              <a:rPr lang="en-US" sz="3308">
                <a:solidFill>
                  <a:srgbClr val="FFFFFF"/>
                </a:solidFill>
                <a:latin typeface="Montserrat"/>
                <a:ea typeface="Montserrat"/>
                <a:cs typeface="Montserrat"/>
                <a:sym typeface="Montserrat"/>
              </a:rPr>
              <a:t>SUMMARY STATISTICS ANALYSIS</a:t>
            </a:r>
          </a:p>
        </p:txBody>
      </p:sp>
      <p:sp>
        <p:nvSpPr>
          <p:cNvPr id="17" name="TextBox 17"/>
          <p:cNvSpPr txBox="1"/>
          <p:nvPr/>
        </p:nvSpPr>
        <p:spPr>
          <a:xfrm>
            <a:off x="4059808" y="2910979"/>
            <a:ext cx="3449885" cy="445296"/>
          </a:xfrm>
          <a:prstGeom prst="rect">
            <a:avLst/>
          </a:prstGeom>
        </p:spPr>
        <p:txBody>
          <a:bodyPr lIns="0" tIns="0" rIns="0" bIns="0" rtlCol="0" anchor="t">
            <a:spAutoFit/>
          </a:bodyPr>
          <a:lstStyle/>
          <a:p>
            <a:pPr marL="0" lvl="0" indent="0" algn="l">
              <a:lnSpc>
                <a:spcPts val="3407"/>
              </a:lnSpc>
              <a:spcBef>
                <a:spcPct val="0"/>
              </a:spcBef>
            </a:pPr>
            <a:r>
              <a:rPr lang="en-US" sz="3308" u="none" strike="noStrike">
                <a:solidFill>
                  <a:srgbClr val="FFFFFF"/>
                </a:solidFill>
                <a:latin typeface="Montserrat"/>
                <a:ea typeface="Montserrat"/>
                <a:cs typeface="Montserrat"/>
                <a:sym typeface="Montserrat"/>
              </a:rPr>
              <a:t>INTRODUCTION</a:t>
            </a:r>
          </a:p>
        </p:txBody>
      </p:sp>
      <p:sp>
        <p:nvSpPr>
          <p:cNvPr id="18" name="TextBox 18"/>
          <p:cNvSpPr txBox="1"/>
          <p:nvPr/>
        </p:nvSpPr>
        <p:spPr>
          <a:xfrm>
            <a:off x="4059808" y="5798599"/>
            <a:ext cx="5867353" cy="445314"/>
          </a:xfrm>
          <a:prstGeom prst="rect">
            <a:avLst/>
          </a:prstGeom>
        </p:spPr>
        <p:txBody>
          <a:bodyPr lIns="0" tIns="0" rIns="0" bIns="0" rtlCol="0" anchor="t">
            <a:spAutoFit/>
          </a:bodyPr>
          <a:lstStyle/>
          <a:p>
            <a:pPr marL="0" lvl="0" indent="0" algn="l">
              <a:lnSpc>
                <a:spcPts val="3407"/>
              </a:lnSpc>
              <a:spcBef>
                <a:spcPct val="0"/>
              </a:spcBef>
            </a:pPr>
            <a:r>
              <a:rPr lang="en-US" sz="3308">
                <a:solidFill>
                  <a:srgbClr val="FFFFFF"/>
                </a:solidFill>
                <a:latin typeface="Montserrat"/>
                <a:ea typeface="Montserrat"/>
                <a:cs typeface="Montserrat"/>
                <a:sym typeface="Montserrat"/>
              </a:rPr>
              <a:t>CORRELATIONS ANALYSIS </a:t>
            </a:r>
          </a:p>
        </p:txBody>
      </p:sp>
      <p:sp>
        <p:nvSpPr>
          <p:cNvPr id="19" name="TextBox 19"/>
          <p:cNvSpPr txBox="1"/>
          <p:nvPr/>
        </p:nvSpPr>
        <p:spPr>
          <a:xfrm>
            <a:off x="2782122" y="1050035"/>
            <a:ext cx="10860008" cy="1046850"/>
          </a:xfrm>
          <a:prstGeom prst="rect">
            <a:avLst/>
          </a:prstGeom>
        </p:spPr>
        <p:txBody>
          <a:bodyPr lIns="0" tIns="0" rIns="0" bIns="0" rtlCol="0" anchor="t">
            <a:spAutoFit/>
          </a:bodyPr>
          <a:lstStyle/>
          <a:p>
            <a:pPr marL="0" lvl="0" indent="0" algn="l">
              <a:lnSpc>
                <a:spcPts val="7941"/>
              </a:lnSpc>
              <a:spcBef>
                <a:spcPct val="0"/>
              </a:spcBef>
            </a:pPr>
            <a:r>
              <a:rPr lang="en-US" sz="7710" u="none" strike="noStrike">
                <a:solidFill>
                  <a:srgbClr val="FFFFFF"/>
                </a:solidFill>
                <a:latin typeface="Montserrat"/>
                <a:ea typeface="Montserrat"/>
                <a:cs typeface="Montserrat"/>
                <a:sym typeface="Montserrat"/>
              </a:rPr>
              <a:t>TABLE OF </a:t>
            </a:r>
            <a:r>
              <a:rPr lang="en-US" sz="7710" u="none" strike="noStrike">
                <a:solidFill>
                  <a:srgbClr val="2538FF"/>
                </a:solidFill>
                <a:latin typeface="Montserrat"/>
                <a:ea typeface="Montserrat"/>
                <a:cs typeface="Montserrat"/>
                <a:sym typeface="Montserrat"/>
              </a:rPr>
              <a:t>CONTENTS</a:t>
            </a:r>
          </a:p>
        </p:txBody>
      </p:sp>
      <p:sp>
        <p:nvSpPr>
          <p:cNvPr id="20" name="TextBox 20"/>
          <p:cNvSpPr txBox="1"/>
          <p:nvPr/>
        </p:nvSpPr>
        <p:spPr>
          <a:xfrm>
            <a:off x="2671250" y="2743450"/>
            <a:ext cx="1295426" cy="749809"/>
          </a:xfrm>
          <a:prstGeom prst="rect">
            <a:avLst/>
          </a:prstGeom>
        </p:spPr>
        <p:txBody>
          <a:bodyPr lIns="0" tIns="0" rIns="0" bIns="0" rtlCol="0" anchor="t">
            <a:spAutoFit/>
          </a:bodyPr>
          <a:lstStyle/>
          <a:p>
            <a:pPr marL="0" lvl="0" indent="0" algn="ctr">
              <a:lnSpc>
                <a:spcPts val="5681"/>
              </a:lnSpc>
              <a:spcBef>
                <a:spcPct val="0"/>
              </a:spcBef>
            </a:pPr>
            <a:r>
              <a:rPr lang="en-US" sz="5515">
                <a:solidFill>
                  <a:srgbClr val="FFFFFF"/>
                </a:solidFill>
                <a:latin typeface="Montserrat"/>
                <a:ea typeface="Montserrat"/>
                <a:cs typeface="Montserrat"/>
                <a:sym typeface="Montserrat"/>
              </a:rPr>
              <a:t>01</a:t>
            </a:r>
          </a:p>
        </p:txBody>
      </p:sp>
      <p:sp>
        <p:nvSpPr>
          <p:cNvPr id="21" name="TextBox 21"/>
          <p:cNvSpPr txBox="1"/>
          <p:nvPr/>
        </p:nvSpPr>
        <p:spPr>
          <a:xfrm>
            <a:off x="2671250" y="4209631"/>
            <a:ext cx="1295426" cy="749809"/>
          </a:xfrm>
          <a:prstGeom prst="rect">
            <a:avLst/>
          </a:prstGeom>
        </p:spPr>
        <p:txBody>
          <a:bodyPr lIns="0" tIns="0" rIns="0" bIns="0" rtlCol="0" anchor="t">
            <a:spAutoFit/>
          </a:bodyPr>
          <a:lstStyle/>
          <a:p>
            <a:pPr marL="0" lvl="0" indent="0" algn="ctr">
              <a:lnSpc>
                <a:spcPts val="5681"/>
              </a:lnSpc>
              <a:spcBef>
                <a:spcPct val="0"/>
              </a:spcBef>
            </a:pPr>
            <a:r>
              <a:rPr lang="en-US" sz="5515">
                <a:solidFill>
                  <a:srgbClr val="FFFFFF"/>
                </a:solidFill>
                <a:latin typeface="Montserrat"/>
                <a:ea typeface="Montserrat"/>
                <a:cs typeface="Montserrat"/>
                <a:sym typeface="Montserrat"/>
              </a:rPr>
              <a:t>02</a:t>
            </a:r>
          </a:p>
        </p:txBody>
      </p:sp>
      <p:sp>
        <p:nvSpPr>
          <p:cNvPr id="22" name="TextBox 22"/>
          <p:cNvSpPr txBox="1"/>
          <p:nvPr/>
        </p:nvSpPr>
        <p:spPr>
          <a:xfrm>
            <a:off x="2671250" y="5690199"/>
            <a:ext cx="1295426" cy="749809"/>
          </a:xfrm>
          <a:prstGeom prst="rect">
            <a:avLst/>
          </a:prstGeom>
        </p:spPr>
        <p:txBody>
          <a:bodyPr lIns="0" tIns="0" rIns="0" bIns="0" rtlCol="0" anchor="t">
            <a:spAutoFit/>
          </a:bodyPr>
          <a:lstStyle/>
          <a:p>
            <a:pPr marL="0" lvl="0" indent="0" algn="ctr">
              <a:lnSpc>
                <a:spcPts val="5681"/>
              </a:lnSpc>
              <a:spcBef>
                <a:spcPct val="0"/>
              </a:spcBef>
            </a:pPr>
            <a:r>
              <a:rPr lang="en-US" sz="5515">
                <a:solidFill>
                  <a:srgbClr val="FFFFFF"/>
                </a:solidFill>
                <a:latin typeface="Montserrat"/>
                <a:ea typeface="Montserrat"/>
                <a:cs typeface="Montserrat"/>
                <a:sym typeface="Montserrat"/>
              </a:rPr>
              <a:t>03</a:t>
            </a:r>
          </a:p>
        </p:txBody>
      </p:sp>
      <p:grpSp>
        <p:nvGrpSpPr>
          <p:cNvPr id="23" name="Group 23"/>
          <p:cNvGrpSpPr/>
          <p:nvPr/>
        </p:nvGrpSpPr>
        <p:grpSpPr>
          <a:xfrm>
            <a:off x="2819387" y="6929439"/>
            <a:ext cx="1088194" cy="1088194"/>
            <a:chOff x="0" y="0"/>
            <a:chExt cx="468666" cy="468666"/>
          </a:xfrm>
        </p:grpSpPr>
        <p:sp>
          <p:nvSpPr>
            <p:cNvPr id="24" name="Freeform 24"/>
            <p:cNvSpPr/>
            <p:nvPr/>
          </p:nvSpPr>
          <p:spPr>
            <a:xfrm>
              <a:off x="0" y="0"/>
              <a:ext cx="468666" cy="468666"/>
            </a:xfrm>
            <a:custGeom>
              <a:avLst/>
              <a:gdLst/>
              <a:ahLst/>
              <a:cxnLst/>
              <a:rect l="l" t="t" r="r" b="b"/>
              <a:pathLst>
                <a:path w="468666" h="468666">
                  <a:moveTo>
                    <a:pt x="213434" y="0"/>
                  </a:moveTo>
                  <a:lnTo>
                    <a:pt x="255232" y="0"/>
                  </a:lnTo>
                  <a:cubicBezTo>
                    <a:pt x="311838" y="0"/>
                    <a:pt x="366126" y="22487"/>
                    <a:pt x="406153" y="62513"/>
                  </a:cubicBezTo>
                  <a:cubicBezTo>
                    <a:pt x="446179" y="102540"/>
                    <a:pt x="468666" y="156828"/>
                    <a:pt x="468666" y="213434"/>
                  </a:cubicBezTo>
                  <a:lnTo>
                    <a:pt x="468666" y="255232"/>
                  </a:lnTo>
                  <a:cubicBezTo>
                    <a:pt x="468666" y="373108"/>
                    <a:pt x="373108" y="468666"/>
                    <a:pt x="255232" y="468666"/>
                  </a:cubicBezTo>
                  <a:lnTo>
                    <a:pt x="213434" y="468666"/>
                  </a:lnTo>
                  <a:cubicBezTo>
                    <a:pt x="95558" y="468666"/>
                    <a:pt x="0" y="373108"/>
                    <a:pt x="0" y="255232"/>
                  </a:cubicBezTo>
                  <a:lnTo>
                    <a:pt x="0" y="213434"/>
                  </a:lnTo>
                  <a:cubicBezTo>
                    <a:pt x="0" y="95558"/>
                    <a:pt x="95558" y="0"/>
                    <a:pt x="213434"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25" name="TextBox 25"/>
            <p:cNvSpPr txBox="1"/>
            <p:nvPr/>
          </p:nvSpPr>
          <p:spPr>
            <a:xfrm>
              <a:off x="0" y="-47625"/>
              <a:ext cx="468666" cy="516291"/>
            </a:xfrm>
            <a:prstGeom prst="rect">
              <a:avLst/>
            </a:prstGeom>
          </p:spPr>
          <p:txBody>
            <a:bodyPr lIns="50800" tIns="50800" rIns="50800" bIns="50800" rtlCol="0" anchor="ctr"/>
            <a:lstStyle/>
            <a:p>
              <a:pPr algn="ctr">
                <a:lnSpc>
                  <a:spcPts val="3359"/>
                </a:lnSpc>
              </a:pPr>
              <a:endParaRPr/>
            </a:p>
          </p:txBody>
        </p:sp>
      </p:grpSp>
      <p:sp>
        <p:nvSpPr>
          <p:cNvPr id="26" name="TextBox 26"/>
          <p:cNvSpPr txBox="1"/>
          <p:nvPr/>
        </p:nvSpPr>
        <p:spPr>
          <a:xfrm>
            <a:off x="4104328" y="7249894"/>
            <a:ext cx="5521312" cy="445314"/>
          </a:xfrm>
          <a:prstGeom prst="rect">
            <a:avLst/>
          </a:prstGeom>
        </p:spPr>
        <p:txBody>
          <a:bodyPr lIns="0" tIns="0" rIns="0" bIns="0" rtlCol="0" anchor="t">
            <a:spAutoFit/>
          </a:bodyPr>
          <a:lstStyle/>
          <a:p>
            <a:pPr marL="0" lvl="0" indent="0" algn="l">
              <a:lnSpc>
                <a:spcPts val="3407"/>
              </a:lnSpc>
              <a:spcBef>
                <a:spcPct val="0"/>
              </a:spcBef>
            </a:pPr>
            <a:r>
              <a:rPr lang="en-US" sz="3308">
                <a:solidFill>
                  <a:srgbClr val="FFFFFF"/>
                </a:solidFill>
                <a:latin typeface="Montserrat"/>
                <a:ea typeface="Montserrat"/>
                <a:cs typeface="Montserrat"/>
                <a:sym typeface="Montserrat"/>
              </a:rPr>
              <a:t>SIGNIFICANT ANALYSIS </a:t>
            </a:r>
          </a:p>
        </p:txBody>
      </p:sp>
      <p:sp>
        <p:nvSpPr>
          <p:cNvPr id="27" name="TextBox 27"/>
          <p:cNvSpPr txBox="1"/>
          <p:nvPr/>
        </p:nvSpPr>
        <p:spPr>
          <a:xfrm>
            <a:off x="2715770" y="7141494"/>
            <a:ext cx="1295426" cy="749809"/>
          </a:xfrm>
          <a:prstGeom prst="rect">
            <a:avLst/>
          </a:prstGeom>
        </p:spPr>
        <p:txBody>
          <a:bodyPr lIns="0" tIns="0" rIns="0" bIns="0" rtlCol="0" anchor="t">
            <a:spAutoFit/>
          </a:bodyPr>
          <a:lstStyle/>
          <a:p>
            <a:pPr marL="0" lvl="0" indent="0" algn="ctr">
              <a:lnSpc>
                <a:spcPts val="5681"/>
              </a:lnSpc>
              <a:spcBef>
                <a:spcPct val="0"/>
              </a:spcBef>
            </a:pPr>
            <a:r>
              <a:rPr lang="en-US" sz="5515">
                <a:solidFill>
                  <a:srgbClr val="FFFFFF"/>
                </a:solidFill>
                <a:latin typeface="Montserrat"/>
                <a:ea typeface="Montserrat"/>
                <a:cs typeface="Montserrat"/>
                <a:sym typeface="Montserrat"/>
              </a:rPr>
              <a:t>04</a:t>
            </a:r>
          </a:p>
        </p:txBody>
      </p:sp>
      <p:grpSp>
        <p:nvGrpSpPr>
          <p:cNvPr id="28" name="Group 28"/>
          <p:cNvGrpSpPr/>
          <p:nvPr/>
        </p:nvGrpSpPr>
        <p:grpSpPr>
          <a:xfrm>
            <a:off x="2878483" y="8455783"/>
            <a:ext cx="1088194" cy="1088194"/>
            <a:chOff x="0" y="0"/>
            <a:chExt cx="468666" cy="468666"/>
          </a:xfrm>
        </p:grpSpPr>
        <p:sp>
          <p:nvSpPr>
            <p:cNvPr id="29" name="Freeform 29"/>
            <p:cNvSpPr/>
            <p:nvPr/>
          </p:nvSpPr>
          <p:spPr>
            <a:xfrm>
              <a:off x="0" y="0"/>
              <a:ext cx="468666" cy="468666"/>
            </a:xfrm>
            <a:custGeom>
              <a:avLst/>
              <a:gdLst/>
              <a:ahLst/>
              <a:cxnLst/>
              <a:rect l="l" t="t" r="r" b="b"/>
              <a:pathLst>
                <a:path w="468666" h="468666">
                  <a:moveTo>
                    <a:pt x="213434" y="0"/>
                  </a:moveTo>
                  <a:lnTo>
                    <a:pt x="255232" y="0"/>
                  </a:lnTo>
                  <a:cubicBezTo>
                    <a:pt x="311838" y="0"/>
                    <a:pt x="366126" y="22487"/>
                    <a:pt x="406153" y="62513"/>
                  </a:cubicBezTo>
                  <a:cubicBezTo>
                    <a:pt x="446179" y="102540"/>
                    <a:pt x="468666" y="156828"/>
                    <a:pt x="468666" y="213434"/>
                  </a:cubicBezTo>
                  <a:lnTo>
                    <a:pt x="468666" y="255232"/>
                  </a:lnTo>
                  <a:cubicBezTo>
                    <a:pt x="468666" y="373108"/>
                    <a:pt x="373108" y="468666"/>
                    <a:pt x="255232" y="468666"/>
                  </a:cubicBezTo>
                  <a:lnTo>
                    <a:pt x="213434" y="468666"/>
                  </a:lnTo>
                  <a:cubicBezTo>
                    <a:pt x="95558" y="468666"/>
                    <a:pt x="0" y="373108"/>
                    <a:pt x="0" y="255232"/>
                  </a:cubicBezTo>
                  <a:lnTo>
                    <a:pt x="0" y="213434"/>
                  </a:lnTo>
                  <a:cubicBezTo>
                    <a:pt x="0" y="95558"/>
                    <a:pt x="95558" y="0"/>
                    <a:pt x="213434"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30" name="TextBox 30"/>
            <p:cNvSpPr txBox="1"/>
            <p:nvPr/>
          </p:nvSpPr>
          <p:spPr>
            <a:xfrm>
              <a:off x="0" y="-47625"/>
              <a:ext cx="468666" cy="516291"/>
            </a:xfrm>
            <a:prstGeom prst="rect">
              <a:avLst/>
            </a:prstGeom>
          </p:spPr>
          <p:txBody>
            <a:bodyPr lIns="50800" tIns="50800" rIns="50800" bIns="50800" rtlCol="0" anchor="ctr"/>
            <a:lstStyle/>
            <a:p>
              <a:pPr algn="ctr">
                <a:lnSpc>
                  <a:spcPts val="3359"/>
                </a:lnSpc>
              </a:pPr>
              <a:endParaRPr/>
            </a:p>
          </p:txBody>
        </p:sp>
      </p:grpSp>
      <p:sp>
        <p:nvSpPr>
          <p:cNvPr id="31" name="TextBox 31"/>
          <p:cNvSpPr txBox="1"/>
          <p:nvPr/>
        </p:nvSpPr>
        <p:spPr>
          <a:xfrm>
            <a:off x="4163424" y="8776238"/>
            <a:ext cx="5521312" cy="445314"/>
          </a:xfrm>
          <a:prstGeom prst="rect">
            <a:avLst/>
          </a:prstGeom>
        </p:spPr>
        <p:txBody>
          <a:bodyPr lIns="0" tIns="0" rIns="0" bIns="0" rtlCol="0" anchor="t">
            <a:spAutoFit/>
          </a:bodyPr>
          <a:lstStyle/>
          <a:p>
            <a:pPr marL="0" lvl="0" indent="0" algn="l">
              <a:lnSpc>
                <a:spcPts val="3407"/>
              </a:lnSpc>
              <a:spcBef>
                <a:spcPct val="0"/>
              </a:spcBef>
            </a:pPr>
            <a:r>
              <a:rPr lang="en-US" sz="3308">
                <a:solidFill>
                  <a:srgbClr val="FFFFFF"/>
                </a:solidFill>
                <a:latin typeface="Montserrat"/>
                <a:ea typeface="Montserrat"/>
                <a:cs typeface="Montserrat"/>
                <a:sym typeface="Montserrat"/>
              </a:rPr>
              <a:t>CONCLUSION</a:t>
            </a:r>
          </a:p>
        </p:txBody>
      </p:sp>
      <p:sp>
        <p:nvSpPr>
          <p:cNvPr id="32" name="TextBox 32"/>
          <p:cNvSpPr txBox="1"/>
          <p:nvPr/>
        </p:nvSpPr>
        <p:spPr>
          <a:xfrm>
            <a:off x="2774867" y="8667837"/>
            <a:ext cx="1295426" cy="749809"/>
          </a:xfrm>
          <a:prstGeom prst="rect">
            <a:avLst/>
          </a:prstGeom>
        </p:spPr>
        <p:txBody>
          <a:bodyPr lIns="0" tIns="0" rIns="0" bIns="0" rtlCol="0" anchor="t">
            <a:spAutoFit/>
          </a:bodyPr>
          <a:lstStyle/>
          <a:p>
            <a:pPr marL="0" lvl="0" indent="0" algn="ctr">
              <a:lnSpc>
                <a:spcPts val="5681"/>
              </a:lnSpc>
              <a:spcBef>
                <a:spcPct val="0"/>
              </a:spcBef>
            </a:pPr>
            <a:r>
              <a:rPr lang="en-US" sz="5515">
                <a:solidFill>
                  <a:srgbClr val="FFFFFF"/>
                </a:solidFill>
                <a:latin typeface="Montserrat"/>
                <a:ea typeface="Montserrat"/>
                <a:cs typeface="Montserrat"/>
                <a:sym typeface="Montserrat"/>
              </a:rPr>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grpSp>
        <p:nvGrpSpPr>
          <p:cNvPr id="2" name="Group 2"/>
          <p:cNvGrpSpPr/>
          <p:nvPr/>
        </p:nvGrpSpPr>
        <p:grpSpPr>
          <a:xfrm>
            <a:off x="1198139" y="2254690"/>
            <a:ext cx="1779466" cy="1779466"/>
            <a:chOff x="0" y="0"/>
            <a:chExt cx="468666" cy="468666"/>
          </a:xfrm>
        </p:grpSpPr>
        <p:sp>
          <p:nvSpPr>
            <p:cNvPr id="3" name="Freeform 3"/>
            <p:cNvSpPr/>
            <p:nvPr/>
          </p:nvSpPr>
          <p:spPr>
            <a:xfrm>
              <a:off x="0" y="0"/>
              <a:ext cx="468666" cy="468666"/>
            </a:xfrm>
            <a:custGeom>
              <a:avLst/>
              <a:gdLst/>
              <a:ahLst/>
              <a:cxnLst/>
              <a:rect l="l" t="t" r="r" b="b"/>
              <a:pathLst>
                <a:path w="468666" h="468666">
                  <a:moveTo>
                    <a:pt x="130521" y="0"/>
                  </a:moveTo>
                  <a:lnTo>
                    <a:pt x="338145" y="0"/>
                  </a:lnTo>
                  <a:cubicBezTo>
                    <a:pt x="372761" y="0"/>
                    <a:pt x="405960" y="13751"/>
                    <a:pt x="430437" y="38229"/>
                  </a:cubicBezTo>
                  <a:cubicBezTo>
                    <a:pt x="454915" y="62706"/>
                    <a:pt x="468666" y="95905"/>
                    <a:pt x="468666" y="130521"/>
                  </a:cubicBezTo>
                  <a:lnTo>
                    <a:pt x="468666" y="338145"/>
                  </a:lnTo>
                  <a:cubicBezTo>
                    <a:pt x="468666" y="372761"/>
                    <a:pt x="454915" y="405960"/>
                    <a:pt x="430437" y="430437"/>
                  </a:cubicBezTo>
                  <a:cubicBezTo>
                    <a:pt x="405960" y="454915"/>
                    <a:pt x="372761" y="468666"/>
                    <a:pt x="338145" y="468666"/>
                  </a:cubicBezTo>
                  <a:lnTo>
                    <a:pt x="130521" y="468666"/>
                  </a:lnTo>
                  <a:cubicBezTo>
                    <a:pt x="95905" y="468666"/>
                    <a:pt x="62706" y="454915"/>
                    <a:pt x="38229" y="430437"/>
                  </a:cubicBezTo>
                  <a:cubicBezTo>
                    <a:pt x="13751" y="405960"/>
                    <a:pt x="0" y="372761"/>
                    <a:pt x="0" y="338145"/>
                  </a:cubicBezTo>
                  <a:lnTo>
                    <a:pt x="0" y="130521"/>
                  </a:lnTo>
                  <a:cubicBezTo>
                    <a:pt x="0" y="95905"/>
                    <a:pt x="13751" y="62706"/>
                    <a:pt x="38229" y="38229"/>
                  </a:cubicBezTo>
                  <a:cubicBezTo>
                    <a:pt x="62706" y="13751"/>
                    <a:pt x="95905" y="0"/>
                    <a:pt x="130521" y="0"/>
                  </a:cubicBezTo>
                  <a:close/>
                </a:path>
              </a:pathLst>
            </a:custGeom>
            <a:solidFill>
              <a:srgbClr val="000000">
                <a:alpha val="0"/>
              </a:srgbClr>
            </a:solidFill>
            <a:ln w="19050" cap="rnd">
              <a:solidFill>
                <a:srgbClr val="FFFFFF"/>
              </a:solidFill>
              <a:prstDash val="solid"/>
              <a:round/>
            </a:ln>
          </p:spPr>
          <p:txBody>
            <a:bodyPr/>
            <a:lstStyle/>
            <a:p>
              <a:endParaRPr lang="en-US"/>
            </a:p>
          </p:txBody>
        </p:sp>
        <p:sp>
          <p:nvSpPr>
            <p:cNvPr id="4" name="TextBox 4"/>
            <p:cNvSpPr txBox="1"/>
            <p:nvPr/>
          </p:nvSpPr>
          <p:spPr>
            <a:xfrm>
              <a:off x="0" y="-47625"/>
              <a:ext cx="468666" cy="51629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2119428" y="1707967"/>
            <a:ext cx="5246370" cy="6303765"/>
            <a:chOff x="0" y="0"/>
            <a:chExt cx="812800" cy="976618"/>
          </a:xfrm>
        </p:grpSpPr>
        <p:sp>
          <p:nvSpPr>
            <p:cNvPr id="6" name="Freeform 6"/>
            <p:cNvSpPr/>
            <p:nvPr/>
          </p:nvSpPr>
          <p:spPr>
            <a:xfrm>
              <a:off x="0" y="0"/>
              <a:ext cx="812800" cy="976618"/>
            </a:xfrm>
            <a:custGeom>
              <a:avLst/>
              <a:gdLst/>
              <a:ahLst/>
              <a:cxnLst/>
              <a:rect l="l" t="t" r="r" b="b"/>
              <a:pathLst>
                <a:path w="812800" h="976618">
                  <a:moveTo>
                    <a:pt x="33940" y="0"/>
                  </a:moveTo>
                  <a:lnTo>
                    <a:pt x="778860" y="0"/>
                  </a:lnTo>
                  <a:cubicBezTo>
                    <a:pt x="797604" y="0"/>
                    <a:pt x="812800" y="15196"/>
                    <a:pt x="812800" y="33940"/>
                  </a:cubicBezTo>
                  <a:lnTo>
                    <a:pt x="812800" y="942678"/>
                  </a:lnTo>
                  <a:cubicBezTo>
                    <a:pt x="812800" y="961422"/>
                    <a:pt x="797604" y="976618"/>
                    <a:pt x="778860" y="976618"/>
                  </a:cubicBezTo>
                  <a:lnTo>
                    <a:pt x="33940" y="976618"/>
                  </a:lnTo>
                  <a:cubicBezTo>
                    <a:pt x="15196" y="976618"/>
                    <a:pt x="0" y="961422"/>
                    <a:pt x="0" y="942678"/>
                  </a:cubicBezTo>
                  <a:lnTo>
                    <a:pt x="0" y="33940"/>
                  </a:lnTo>
                  <a:cubicBezTo>
                    <a:pt x="0" y="15196"/>
                    <a:pt x="15196" y="0"/>
                    <a:pt x="33940" y="0"/>
                  </a:cubicBezTo>
                  <a:close/>
                </a:path>
              </a:pathLst>
            </a:custGeom>
            <a:blipFill>
              <a:blip r:embed="rId2"/>
              <a:stretch>
                <a:fillRect l="-40172" r="-40172"/>
              </a:stretch>
            </a:blipFill>
            <a:ln w="19050" cap="rnd">
              <a:solidFill>
                <a:srgbClr val="FFFFFF"/>
              </a:solidFill>
              <a:prstDash val="solid"/>
              <a:round/>
            </a:ln>
          </p:spPr>
          <p:txBody>
            <a:bodyPr/>
            <a:lstStyle/>
            <a:p>
              <a:endParaRPr lang="en-US"/>
            </a:p>
          </p:txBody>
        </p:sp>
      </p:grpSp>
      <p:sp>
        <p:nvSpPr>
          <p:cNvPr id="7" name="TextBox 7"/>
          <p:cNvSpPr txBox="1"/>
          <p:nvPr/>
        </p:nvSpPr>
        <p:spPr>
          <a:xfrm>
            <a:off x="3460302" y="2684951"/>
            <a:ext cx="8173351" cy="1042770"/>
          </a:xfrm>
          <a:prstGeom prst="rect">
            <a:avLst/>
          </a:prstGeom>
        </p:spPr>
        <p:txBody>
          <a:bodyPr lIns="0" tIns="0" rIns="0" bIns="0" rtlCol="0" anchor="t">
            <a:spAutoFit/>
          </a:bodyPr>
          <a:lstStyle/>
          <a:p>
            <a:pPr marL="0" lvl="0" indent="0" algn="l">
              <a:lnSpc>
                <a:spcPts val="7941"/>
              </a:lnSpc>
              <a:spcBef>
                <a:spcPct val="0"/>
              </a:spcBef>
            </a:pPr>
            <a:r>
              <a:rPr lang="en-US" sz="7710" u="none" strike="noStrike">
                <a:solidFill>
                  <a:srgbClr val="2538FF"/>
                </a:solidFill>
                <a:latin typeface="Montserrat"/>
                <a:ea typeface="Montserrat"/>
                <a:cs typeface="Montserrat"/>
                <a:sym typeface="Montserrat"/>
              </a:rPr>
              <a:t>INTRODUCTION</a:t>
            </a:r>
          </a:p>
        </p:txBody>
      </p:sp>
      <p:sp>
        <p:nvSpPr>
          <p:cNvPr id="8" name="TextBox 8"/>
          <p:cNvSpPr txBox="1"/>
          <p:nvPr/>
        </p:nvSpPr>
        <p:spPr>
          <a:xfrm>
            <a:off x="1028700" y="2613670"/>
            <a:ext cx="2118343" cy="1213906"/>
          </a:xfrm>
          <a:prstGeom prst="rect">
            <a:avLst/>
          </a:prstGeom>
        </p:spPr>
        <p:txBody>
          <a:bodyPr lIns="0" tIns="0" rIns="0" bIns="0" rtlCol="0" anchor="t">
            <a:spAutoFit/>
          </a:bodyPr>
          <a:lstStyle/>
          <a:p>
            <a:pPr marL="0" lvl="0" indent="0" algn="ctr">
              <a:lnSpc>
                <a:spcPts val="9290"/>
              </a:lnSpc>
              <a:spcBef>
                <a:spcPct val="0"/>
              </a:spcBef>
            </a:pPr>
            <a:r>
              <a:rPr lang="en-US" sz="9019">
                <a:solidFill>
                  <a:srgbClr val="FFFFFF"/>
                </a:solidFill>
                <a:latin typeface="Montserrat"/>
                <a:ea typeface="Montserrat"/>
                <a:cs typeface="Montserrat"/>
                <a:sym typeface="Montserrat"/>
              </a:rPr>
              <a:t>01</a:t>
            </a:r>
          </a:p>
        </p:txBody>
      </p:sp>
      <p:sp>
        <p:nvSpPr>
          <p:cNvPr id="9" name="TextBox 9"/>
          <p:cNvSpPr txBox="1"/>
          <p:nvPr/>
        </p:nvSpPr>
        <p:spPr>
          <a:xfrm>
            <a:off x="3460302" y="3986532"/>
            <a:ext cx="7130991" cy="2830830"/>
          </a:xfrm>
          <a:prstGeom prst="rect">
            <a:avLst/>
          </a:prstGeom>
        </p:spPr>
        <p:txBody>
          <a:bodyPr lIns="0" tIns="0" rIns="0" bIns="0" rtlCol="0" anchor="t">
            <a:spAutoFit/>
          </a:bodyPr>
          <a:lstStyle/>
          <a:p>
            <a:pPr marL="388623" lvl="1" indent="-194312" algn="l">
              <a:lnSpc>
                <a:spcPts val="2520"/>
              </a:lnSpc>
              <a:buFont typeface="Arial"/>
              <a:buChar char="•"/>
            </a:pPr>
            <a:r>
              <a:rPr lang="en-US" sz="1800">
                <a:solidFill>
                  <a:srgbClr val="FFFFFF"/>
                </a:solidFill>
                <a:latin typeface="Nixie One"/>
                <a:ea typeface="Nixie One"/>
                <a:cs typeface="Nixie One"/>
                <a:sym typeface="Nixie One"/>
              </a:rPr>
              <a:t>ITEC610_assessment3_data.csv is a project in the class of ITEC610 in the methods of data analysis and visualization. </a:t>
            </a:r>
          </a:p>
          <a:p>
            <a:pPr marL="388623" lvl="1" indent="-194312" algn="l">
              <a:lnSpc>
                <a:spcPts val="2520"/>
              </a:lnSpc>
              <a:buFont typeface="Arial"/>
              <a:buChar char="•"/>
            </a:pPr>
            <a:r>
              <a:rPr lang="en-US" sz="1800">
                <a:solidFill>
                  <a:srgbClr val="FFFFFF"/>
                </a:solidFill>
                <a:latin typeface="Nixie One"/>
                <a:ea typeface="Nixie One"/>
                <a:cs typeface="Nixie One"/>
                <a:sym typeface="Nixie One"/>
              </a:rPr>
              <a:t>This dataset contains:</a:t>
            </a:r>
          </a:p>
          <a:p>
            <a:pPr marL="388623" lvl="1" indent="-194312" algn="l">
              <a:lnSpc>
                <a:spcPts val="2520"/>
              </a:lnSpc>
              <a:buAutoNum type="arabicPeriod"/>
            </a:pPr>
            <a:r>
              <a:rPr lang="en-US" sz="1800">
                <a:solidFill>
                  <a:srgbClr val="FFFFFF"/>
                </a:solidFill>
                <a:latin typeface="Nixie One"/>
                <a:ea typeface="Nixie One"/>
                <a:cs typeface="Nixie One"/>
                <a:sym typeface="Nixie One"/>
              </a:rPr>
              <a:t>Row = 414508</a:t>
            </a:r>
          </a:p>
          <a:p>
            <a:pPr marL="388623" lvl="1" indent="-194312" algn="l">
              <a:lnSpc>
                <a:spcPts val="2520"/>
              </a:lnSpc>
              <a:buAutoNum type="arabicPeriod"/>
            </a:pPr>
            <a:r>
              <a:rPr lang="en-US" sz="1800">
                <a:solidFill>
                  <a:srgbClr val="FFFFFF"/>
                </a:solidFill>
                <a:latin typeface="Nixie One"/>
                <a:ea typeface="Nixie One"/>
                <a:cs typeface="Nixie One"/>
                <a:sym typeface="Nixie One"/>
              </a:rPr>
              <a:t>Columns = 7</a:t>
            </a:r>
          </a:p>
          <a:p>
            <a:pPr marL="388623" lvl="1" indent="-194312" algn="l">
              <a:lnSpc>
                <a:spcPts val="2520"/>
              </a:lnSpc>
              <a:buFont typeface="Arial"/>
              <a:buChar char="•"/>
            </a:pPr>
            <a:r>
              <a:rPr lang="en-US" sz="1800">
                <a:solidFill>
                  <a:srgbClr val="FFFFFF"/>
                </a:solidFill>
                <a:latin typeface="Nixie One"/>
                <a:ea typeface="Nixie One"/>
                <a:cs typeface="Nixie One"/>
                <a:sym typeface="Nixie One"/>
              </a:rPr>
              <a:t>Variables allow for the analysis of changes in weight over time and how these changes relate to height, showing details of individuals and populations.</a:t>
            </a:r>
          </a:p>
          <a:p>
            <a:pPr marL="0" lvl="0" indent="0" algn="l">
              <a:lnSpc>
                <a:spcPts val="2520"/>
              </a:lnSpc>
              <a:spcBef>
                <a:spcPct val="0"/>
              </a:spcBef>
            </a:pPr>
            <a:endParaRPr lang="en-US" sz="1800">
              <a:solidFill>
                <a:srgbClr val="FFFFFF"/>
              </a:solidFill>
              <a:latin typeface="Nixie One"/>
              <a:ea typeface="Nixie One"/>
              <a:cs typeface="Nixie One"/>
              <a:sym typeface="Nixie One"/>
            </a:endParaRPr>
          </a:p>
        </p:txBody>
      </p:sp>
      <p:sp>
        <p:nvSpPr>
          <p:cNvPr id="10" name="Freeform 10"/>
          <p:cNvSpPr/>
          <p:nvPr/>
        </p:nvSpPr>
        <p:spPr>
          <a:xfrm rot="-10800000">
            <a:off x="-4594474" y="8964232"/>
            <a:ext cx="21853774" cy="8857941"/>
          </a:xfrm>
          <a:custGeom>
            <a:avLst/>
            <a:gdLst/>
            <a:ahLst/>
            <a:cxnLst/>
            <a:rect l="l" t="t" r="r" b="b"/>
            <a:pathLst>
              <a:path w="21853774" h="8857941">
                <a:moveTo>
                  <a:pt x="0" y="0"/>
                </a:moveTo>
                <a:lnTo>
                  <a:pt x="21853774" y="0"/>
                </a:lnTo>
                <a:lnTo>
                  <a:pt x="21853774" y="8857940"/>
                </a:lnTo>
                <a:lnTo>
                  <a:pt x="0" y="8857940"/>
                </a:lnTo>
                <a:lnTo>
                  <a:pt x="0" y="0"/>
                </a:lnTo>
                <a:close/>
              </a:path>
            </a:pathLst>
          </a:custGeom>
          <a:blipFill>
            <a:blip r:embed="rId3"/>
            <a:stretch>
              <a:fillRect t="-62537" b="-83251"/>
            </a:stretch>
          </a:blipFill>
        </p:spPr>
        <p:txBody>
          <a:bodyPr/>
          <a:lstStyle/>
          <a:p>
            <a:endParaRPr lang="en-US"/>
          </a:p>
        </p:txBody>
      </p:sp>
      <p:sp>
        <p:nvSpPr>
          <p:cNvPr id="11" name="Freeform 11"/>
          <p:cNvSpPr/>
          <p:nvPr/>
        </p:nvSpPr>
        <p:spPr>
          <a:xfrm rot="-10800000">
            <a:off x="13521168" y="-7552417"/>
            <a:ext cx="21853774" cy="8857941"/>
          </a:xfrm>
          <a:custGeom>
            <a:avLst/>
            <a:gdLst/>
            <a:ahLst/>
            <a:cxnLst/>
            <a:rect l="l" t="t" r="r" b="b"/>
            <a:pathLst>
              <a:path w="21853774" h="8857941">
                <a:moveTo>
                  <a:pt x="0" y="0"/>
                </a:moveTo>
                <a:lnTo>
                  <a:pt x="21853775" y="0"/>
                </a:lnTo>
                <a:lnTo>
                  <a:pt x="21853775" y="8857941"/>
                </a:lnTo>
                <a:lnTo>
                  <a:pt x="0" y="8857941"/>
                </a:lnTo>
                <a:lnTo>
                  <a:pt x="0" y="0"/>
                </a:lnTo>
                <a:close/>
              </a:path>
            </a:pathLst>
          </a:custGeom>
          <a:blipFill>
            <a:blip r:embed="rId3"/>
            <a:stretch>
              <a:fillRect t="-62537" b="-83251"/>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grpSp>
        <p:nvGrpSpPr>
          <p:cNvPr id="2" name="Group 2"/>
          <p:cNvGrpSpPr/>
          <p:nvPr/>
        </p:nvGrpSpPr>
        <p:grpSpPr>
          <a:xfrm>
            <a:off x="285760" y="383392"/>
            <a:ext cx="17659661" cy="8291611"/>
            <a:chOff x="0" y="0"/>
            <a:chExt cx="23546214" cy="11055481"/>
          </a:xfrm>
        </p:grpSpPr>
        <p:pic>
          <p:nvPicPr>
            <p:cNvPr id="3" name="Picture 3"/>
            <p:cNvPicPr>
              <a:picLocks noChangeAspect="1"/>
            </p:cNvPicPr>
            <p:nvPr/>
          </p:nvPicPr>
          <p:blipFill>
            <a:blip r:embed="rId2"/>
            <a:srcRect t="9436" b="9436"/>
            <a:stretch>
              <a:fillRect/>
            </a:stretch>
          </p:blipFill>
          <p:spPr>
            <a:xfrm>
              <a:off x="0" y="0"/>
              <a:ext cx="23546214" cy="11055481"/>
            </a:xfrm>
            <a:prstGeom prst="rect">
              <a:avLst/>
            </a:prstGeom>
          </p:spPr>
        </p:pic>
      </p:grpSp>
      <p:sp>
        <p:nvSpPr>
          <p:cNvPr id="4" name="TextBox 4"/>
          <p:cNvSpPr txBox="1"/>
          <p:nvPr/>
        </p:nvSpPr>
        <p:spPr>
          <a:xfrm>
            <a:off x="1365337" y="8798827"/>
            <a:ext cx="15557326" cy="1042770"/>
          </a:xfrm>
          <a:prstGeom prst="rect">
            <a:avLst/>
          </a:prstGeom>
        </p:spPr>
        <p:txBody>
          <a:bodyPr lIns="0" tIns="0" rIns="0" bIns="0" rtlCol="0" anchor="t">
            <a:spAutoFit/>
          </a:bodyPr>
          <a:lstStyle/>
          <a:p>
            <a:pPr marL="0" lvl="0" indent="0" algn="ctr">
              <a:lnSpc>
                <a:spcPts val="7941"/>
              </a:lnSpc>
              <a:spcBef>
                <a:spcPct val="0"/>
              </a:spcBef>
            </a:pPr>
            <a:r>
              <a:rPr lang="en-US" sz="7710">
                <a:solidFill>
                  <a:srgbClr val="FFFFFF"/>
                </a:solidFill>
                <a:latin typeface="Montserrat"/>
                <a:ea typeface="Montserrat"/>
                <a:cs typeface="Montserrat"/>
                <a:sym typeface="Montserrat"/>
              </a:rPr>
              <a:t>TASK 1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sp>
        <p:nvSpPr>
          <p:cNvPr id="6" name="TextBox 6"/>
          <p:cNvSpPr txBox="1"/>
          <p:nvPr/>
        </p:nvSpPr>
        <p:spPr>
          <a:xfrm>
            <a:off x="2287355" y="-180826"/>
            <a:ext cx="13999438" cy="12075767"/>
          </a:xfrm>
          <a:prstGeom prst="rect">
            <a:avLst/>
          </a:prstGeom>
        </p:spPr>
        <p:txBody>
          <a:bodyPr lIns="50800" tIns="50800" rIns="50800" bIns="50800" rtlCol="0" anchor="ctr"/>
          <a:lstStyle/>
          <a:p>
            <a:pPr algn="ctr">
              <a:lnSpc>
                <a:spcPts val="3359"/>
              </a:lnSpc>
            </a:pPr>
            <a:endParaRPr/>
          </a:p>
        </p:txBody>
      </p:sp>
      <p:sp>
        <p:nvSpPr>
          <p:cNvPr id="7" name="TextBox 7"/>
          <p:cNvSpPr txBox="1"/>
          <p:nvPr/>
        </p:nvSpPr>
        <p:spPr>
          <a:xfrm>
            <a:off x="3359404" y="1633820"/>
            <a:ext cx="5081821" cy="7231380"/>
          </a:xfrm>
          <a:prstGeom prst="rect">
            <a:avLst/>
          </a:prstGeom>
        </p:spPr>
        <p:txBody>
          <a:bodyPr lIns="0" tIns="0" rIns="0" bIns="0" rtlCol="0" anchor="t">
            <a:spAutoFit/>
          </a:bodyPr>
          <a:lstStyle/>
          <a:p>
            <a:pPr algn="l">
              <a:lnSpc>
                <a:spcPts val="2520"/>
              </a:lnSpc>
            </a:pPr>
            <a:r>
              <a:rPr lang="en-US" sz="1800">
                <a:solidFill>
                  <a:srgbClr val="FFFFFF"/>
                </a:solidFill>
                <a:latin typeface="Nixie One"/>
                <a:ea typeface="Nixie One"/>
                <a:cs typeface="Nixie One"/>
                <a:sym typeface="Nixie One"/>
              </a:rPr>
              <a:t>1. Importing Libraries and loading data:</a:t>
            </a:r>
          </a:p>
          <a:p>
            <a:pPr algn="l">
              <a:lnSpc>
                <a:spcPts val="2520"/>
              </a:lnSpc>
            </a:pPr>
            <a:r>
              <a:rPr lang="en-US" sz="1800">
                <a:solidFill>
                  <a:srgbClr val="FFFFFF"/>
                </a:solidFill>
                <a:latin typeface="Nixie One"/>
                <a:ea typeface="Nixie One"/>
                <a:cs typeface="Nixie One"/>
                <a:sym typeface="Nixie One"/>
              </a:rPr>
              <a:t>  - We bring in two tools: `pandas` (to handle data) and `matplotlib.pyplot` (to make graphs).</a:t>
            </a:r>
          </a:p>
          <a:p>
            <a:pPr algn="l">
              <a:lnSpc>
                <a:spcPts val="2520"/>
              </a:lnSpc>
            </a:pPr>
            <a:r>
              <a:rPr lang="en-US" sz="1800">
                <a:solidFill>
                  <a:srgbClr val="FFFFFF"/>
                </a:solidFill>
                <a:latin typeface="Nixie One"/>
                <a:ea typeface="Nixie One"/>
                <a:cs typeface="Nixie One"/>
                <a:sym typeface="Nixie One"/>
              </a:rPr>
              <a:t>  - We read a file named `ITEC610_assessment3_data.csv` and store its content in a variable called `data`.</a:t>
            </a:r>
          </a:p>
          <a:p>
            <a:pPr algn="l">
              <a:lnSpc>
                <a:spcPts val="2520"/>
              </a:lnSpc>
            </a:pPr>
            <a:endParaRPr lang="en-US" sz="1800">
              <a:solidFill>
                <a:srgbClr val="FFFFFF"/>
              </a:solidFill>
              <a:latin typeface="Nixie One"/>
              <a:ea typeface="Nixie One"/>
              <a:cs typeface="Nixie One"/>
              <a:sym typeface="Nixie One"/>
            </a:endParaRPr>
          </a:p>
          <a:p>
            <a:pPr algn="l">
              <a:lnSpc>
                <a:spcPts val="2520"/>
              </a:lnSpc>
            </a:pPr>
            <a:r>
              <a:rPr lang="en-US" sz="1800">
                <a:solidFill>
                  <a:srgbClr val="FFFFFF"/>
                </a:solidFill>
                <a:latin typeface="Nixie One"/>
                <a:ea typeface="Nixie One"/>
                <a:cs typeface="Nixie One"/>
                <a:sym typeface="Nixie One"/>
              </a:rPr>
              <a:t>2. Calculating Statistics:</a:t>
            </a:r>
          </a:p>
          <a:p>
            <a:pPr algn="l">
              <a:lnSpc>
                <a:spcPts val="2520"/>
              </a:lnSpc>
            </a:pPr>
            <a:r>
              <a:rPr lang="en-US" sz="1800">
                <a:solidFill>
                  <a:srgbClr val="FFFFFF"/>
                </a:solidFill>
                <a:latin typeface="Nixie One"/>
                <a:ea typeface="Nixie One"/>
                <a:cs typeface="Nixie One"/>
                <a:sym typeface="Nixie One"/>
              </a:rPr>
              <a:t>  - We look at three columns in our data: `weight2` (current weight), `wtyrago` (weight a year ago), and `htm3` (height).</a:t>
            </a:r>
          </a:p>
          <a:p>
            <a:pPr algn="l">
              <a:lnSpc>
                <a:spcPts val="2520"/>
              </a:lnSpc>
            </a:pPr>
            <a:r>
              <a:rPr lang="en-US" sz="1800">
                <a:solidFill>
                  <a:srgbClr val="FFFFFF"/>
                </a:solidFill>
                <a:latin typeface="Nixie One"/>
                <a:ea typeface="Nixie One"/>
                <a:cs typeface="Nixie One"/>
                <a:sym typeface="Nixie One"/>
              </a:rPr>
              <a:t>  - use `describe()` to get important numbers like the average (mean), smallest (min), largest (max), and other statistics for these columns.</a:t>
            </a:r>
          </a:p>
          <a:p>
            <a:pPr algn="l">
              <a:lnSpc>
                <a:spcPts val="2520"/>
              </a:lnSpc>
            </a:pPr>
            <a:r>
              <a:rPr lang="en-US" sz="1800">
                <a:solidFill>
                  <a:srgbClr val="FFFFFF"/>
                </a:solidFill>
                <a:latin typeface="Nixie One"/>
                <a:ea typeface="Nixie One"/>
                <a:cs typeface="Nixie One"/>
                <a:sym typeface="Nixie One"/>
              </a:rPr>
              <a:t>  - print these numbers to check them.</a:t>
            </a:r>
          </a:p>
          <a:p>
            <a:pPr algn="l">
              <a:lnSpc>
                <a:spcPts val="2520"/>
              </a:lnSpc>
            </a:pPr>
            <a:endParaRPr lang="en-US" sz="1800">
              <a:solidFill>
                <a:srgbClr val="FFFFFF"/>
              </a:solidFill>
              <a:latin typeface="Nixie One"/>
              <a:ea typeface="Nixie One"/>
              <a:cs typeface="Nixie One"/>
              <a:sym typeface="Nixie One"/>
            </a:endParaRPr>
          </a:p>
          <a:p>
            <a:pPr algn="l">
              <a:lnSpc>
                <a:spcPts val="2520"/>
              </a:lnSpc>
            </a:pPr>
            <a:r>
              <a:rPr lang="en-US" sz="1800">
                <a:solidFill>
                  <a:srgbClr val="FFFFFF"/>
                </a:solidFill>
                <a:latin typeface="Nixie One"/>
                <a:ea typeface="Nixie One"/>
                <a:cs typeface="Nixie One"/>
                <a:sym typeface="Nixie One"/>
              </a:rPr>
              <a:t>3. Setting Up Categories:</a:t>
            </a:r>
          </a:p>
          <a:p>
            <a:pPr algn="l">
              <a:lnSpc>
                <a:spcPts val="2520"/>
              </a:lnSpc>
            </a:pPr>
            <a:r>
              <a:rPr lang="en-US" sz="1800">
                <a:solidFill>
                  <a:srgbClr val="FFFFFF"/>
                </a:solidFill>
                <a:latin typeface="Nixie One"/>
                <a:ea typeface="Nixie One"/>
                <a:cs typeface="Nixie One"/>
                <a:sym typeface="Nixie One"/>
              </a:rPr>
              <a:t>  - We create a list of names for our categories: `['Current_weight', 'Weight_a_year_ago', 'Height']`.</a:t>
            </a:r>
          </a:p>
          <a:p>
            <a:pPr marL="0" lvl="0" indent="0" algn="l">
              <a:lnSpc>
                <a:spcPts val="2520"/>
              </a:lnSpc>
              <a:spcBef>
                <a:spcPct val="0"/>
              </a:spcBef>
            </a:pPr>
            <a:endParaRPr lang="en-US" sz="1800">
              <a:solidFill>
                <a:srgbClr val="FFFFFF"/>
              </a:solidFill>
              <a:latin typeface="Nixie One"/>
              <a:ea typeface="Nixie One"/>
              <a:cs typeface="Nixie One"/>
              <a:sym typeface="Nixie One"/>
            </a:endParaRPr>
          </a:p>
        </p:txBody>
      </p:sp>
      <p:sp>
        <p:nvSpPr>
          <p:cNvPr id="8" name="TextBox 8"/>
          <p:cNvSpPr txBox="1"/>
          <p:nvPr/>
        </p:nvSpPr>
        <p:spPr>
          <a:xfrm>
            <a:off x="9620124" y="246698"/>
            <a:ext cx="5081821" cy="9745980"/>
          </a:xfrm>
          <a:prstGeom prst="rect">
            <a:avLst/>
          </a:prstGeom>
        </p:spPr>
        <p:txBody>
          <a:bodyPr lIns="0" tIns="0" rIns="0" bIns="0" rtlCol="0" anchor="t">
            <a:spAutoFit/>
          </a:bodyPr>
          <a:lstStyle/>
          <a:p>
            <a:pPr algn="l">
              <a:lnSpc>
                <a:spcPts val="2520"/>
              </a:lnSpc>
            </a:pPr>
            <a:r>
              <a:rPr lang="en-US" sz="1800" dirty="0">
                <a:solidFill>
                  <a:srgbClr val="FFFFFF"/>
                </a:solidFill>
                <a:latin typeface="Nixie One"/>
                <a:ea typeface="Nixie One"/>
                <a:cs typeface="Nixie One"/>
                <a:sym typeface="Nixie One"/>
              </a:rPr>
              <a:t>Getting Values for Plotting:</a:t>
            </a:r>
          </a:p>
          <a:p>
            <a:pPr algn="l">
              <a:lnSpc>
                <a:spcPts val="2520"/>
              </a:lnSpc>
            </a:pPr>
            <a:r>
              <a:rPr lang="en-US" sz="1800" dirty="0">
                <a:solidFill>
                  <a:srgbClr val="FFFFFF"/>
                </a:solidFill>
                <a:latin typeface="Nixie One"/>
                <a:ea typeface="Nixie One"/>
                <a:cs typeface="Nixie One"/>
                <a:sym typeface="Nixie One"/>
              </a:rPr>
              <a:t>  - We pull out specific numbers from our statistics:</a:t>
            </a:r>
          </a:p>
          <a:p>
            <a:pPr algn="l">
              <a:lnSpc>
                <a:spcPts val="2520"/>
              </a:lnSpc>
            </a:pPr>
            <a:r>
              <a:rPr lang="en-US" sz="1800" dirty="0">
                <a:solidFill>
                  <a:srgbClr val="FFFFFF"/>
                </a:solidFill>
                <a:latin typeface="Nixie One"/>
                <a:ea typeface="Nixie One"/>
                <a:cs typeface="Nixie One"/>
                <a:sym typeface="Nixie One"/>
              </a:rPr>
              <a:t>    - Minimum values</a:t>
            </a:r>
          </a:p>
          <a:p>
            <a:pPr algn="l">
              <a:lnSpc>
                <a:spcPts val="2520"/>
              </a:lnSpc>
            </a:pPr>
            <a:r>
              <a:rPr lang="en-US" sz="1800" dirty="0">
                <a:solidFill>
                  <a:srgbClr val="FFFFFF"/>
                </a:solidFill>
                <a:latin typeface="Nixie One"/>
                <a:ea typeface="Nixie One"/>
                <a:cs typeface="Nixie One"/>
                <a:sym typeface="Nixie One"/>
              </a:rPr>
              <a:t>    - Maximum values</a:t>
            </a:r>
          </a:p>
          <a:p>
            <a:pPr algn="l">
              <a:lnSpc>
                <a:spcPts val="2520"/>
              </a:lnSpc>
            </a:pPr>
            <a:r>
              <a:rPr lang="en-US" sz="1800" dirty="0">
                <a:solidFill>
                  <a:srgbClr val="FFFFFF"/>
                </a:solidFill>
                <a:latin typeface="Nixie One"/>
                <a:ea typeface="Nixie One"/>
                <a:cs typeface="Nixie One"/>
                <a:sym typeface="Nixie One"/>
              </a:rPr>
              <a:t>    - Mean (average) values</a:t>
            </a:r>
          </a:p>
          <a:p>
            <a:pPr algn="l">
              <a:lnSpc>
                <a:spcPts val="2520"/>
              </a:lnSpc>
            </a:pPr>
            <a:r>
              <a:rPr lang="en-US" sz="1800" dirty="0">
                <a:solidFill>
                  <a:srgbClr val="FFFFFF"/>
                </a:solidFill>
                <a:latin typeface="Nixie One"/>
                <a:ea typeface="Nixie One"/>
                <a:cs typeface="Nixie One"/>
                <a:sym typeface="Nixie One"/>
              </a:rPr>
              <a:t>    - Median (middle value)</a:t>
            </a:r>
          </a:p>
          <a:p>
            <a:pPr algn="l">
              <a:lnSpc>
                <a:spcPts val="2520"/>
              </a:lnSpc>
            </a:pPr>
            <a:r>
              <a:rPr lang="en-US" sz="1800" dirty="0">
                <a:solidFill>
                  <a:srgbClr val="FFFFFF"/>
                </a:solidFill>
                <a:latin typeface="Nixie One"/>
                <a:ea typeface="Nixie One"/>
                <a:cs typeface="Nixie One"/>
                <a:sym typeface="Nixie One"/>
              </a:rPr>
              <a:t>    - Standard deviation (how spread out the numbers are)</a:t>
            </a:r>
          </a:p>
          <a:p>
            <a:pPr algn="l">
              <a:lnSpc>
                <a:spcPts val="2520"/>
              </a:lnSpc>
            </a:pPr>
            <a:r>
              <a:rPr lang="en-US" sz="1800" dirty="0">
                <a:solidFill>
                  <a:srgbClr val="FFFFFF"/>
                </a:solidFill>
                <a:latin typeface="Nixie One"/>
                <a:ea typeface="Nixie One"/>
                <a:cs typeface="Nixie One"/>
                <a:sym typeface="Nixie One"/>
              </a:rPr>
              <a:t>    - 25th percentile (value below which 25% of the data falls)</a:t>
            </a:r>
          </a:p>
          <a:p>
            <a:pPr algn="l">
              <a:lnSpc>
                <a:spcPts val="2520"/>
              </a:lnSpc>
            </a:pPr>
            <a:r>
              <a:rPr lang="en-US" sz="1800" dirty="0">
                <a:solidFill>
                  <a:srgbClr val="FFFFFF"/>
                </a:solidFill>
                <a:latin typeface="Nixie One"/>
                <a:ea typeface="Nixie One"/>
                <a:cs typeface="Nixie One"/>
                <a:sym typeface="Nixie One"/>
              </a:rPr>
              <a:t>    - 75th percentile (value below which 75% of the data falls)</a:t>
            </a:r>
          </a:p>
          <a:p>
            <a:pPr algn="l">
              <a:lnSpc>
                <a:spcPts val="2520"/>
              </a:lnSpc>
            </a:pPr>
            <a:endParaRPr lang="en-US" sz="1800" dirty="0">
              <a:solidFill>
                <a:srgbClr val="FFFFFF"/>
              </a:solidFill>
              <a:latin typeface="Nixie One"/>
              <a:ea typeface="Nixie One"/>
              <a:cs typeface="Nixie One"/>
              <a:sym typeface="Nixie One"/>
            </a:endParaRPr>
          </a:p>
          <a:p>
            <a:pPr algn="l">
              <a:lnSpc>
                <a:spcPts val="2520"/>
              </a:lnSpc>
            </a:pPr>
            <a:r>
              <a:rPr lang="en-US" sz="1800" dirty="0">
                <a:solidFill>
                  <a:srgbClr val="FFFFFF"/>
                </a:solidFill>
                <a:latin typeface="Nixie One"/>
                <a:ea typeface="Nixie One"/>
                <a:cs typeface="Nixie One"/>
                <a:sym typeface="Nixie One"/>
              </a:rPr>
              <a:t>5. Making the Plot:</a:t>
            </a:r>
          </a:p>
          <a:p>
            <a:pPr algn="l">
              <a:lnSpc>
                <a:spcPts val="2520"/>
              </a:lnSpc>
            </a:pPr>
            <a:r>
              <a:rPr lang="en-US" sz="1800" dirty="0">
                <a:solidFill>
                  <a:srgbClr val="FFFFFF"/>
                </a:solidFill>
                <a:latin typeface="Nixie One"/>
                <a:ea typeface="Nixie One"/>
                <a:cs typeface="Nixie One"/>
                <a:sym typeface="Nixie One"/>
              </a:rPr>
              <a:t>  - set the size of our graph.</a:t>
            </a:r>
          </a:p>
          <a:p>
            <a:pPr algn="l">
              <a:lnSpc>
                <a:spcPts val="2520"/>
              </a:lnSpc>
            </a:pPr>
            <a:r>
              <a:rPr lang="en-US" sz="1800" dirty="0">
                <a:solidFill>
                  <a:srgbClr val="FFFFFF"/>
                </a:solidFill>
                <a:latin typeface="Nixie One"/>
                <a:ea typeface="Nixie One"/>
                <a:cs typeface="Nixie One"/>
                <a:sym typeface="Nixie One"/>
              </a:rPr>
              <a:t>  - plot different points for each category using different shapes and colors:</a:t>
            </a:r>
          </a:p>
          <a:p>
            <a:pPr algn="l">
              <a:lnSpc>
                <a:spcPts val="2520"/>
              </a:lnSpc>
            </a:pPr>
            <a:r>
              <a:rPr lang="en-US" sz="1800" dirty="0">
                <a:solidFill>
                  <a:srgbClr val="FFFFFF"/>
                </a:solidFill>
                <a:latin typeface="Nixie One"/>
                <a:ea typeface="Nixie One"/>
                <a:cs typeface="Nixie One"/>
                <a:sym typeface="Nixie One"/>
              </a:rPr>
              <a:t>    - Triangles for min and max values</a:t>
            </a:r>
          </a:p>
          <a:p>
            <a:pPr algn="l">
              <a:lnSpc>
                <a:spcPts val="2520"/>
              </a:lnSpc>
            </a:pPr>
            <a:r>
              <a:rPr lang="en-US" sz="1800" dirty="0">
                <a:solidFill>
                  <a:srgbClr val="FFFFFF"/>
                </a:solidFill>
                <a:latin typeface="Nixie One"/>
                <a:ea typeface="Nixie One"/>
                <a:cs typeface="Nixie One"/>
                <a:sym typeface="Nixie One"/>
              </a:rPr>
              <a:t>    - Crosses for mean values</a:t>
            </a:r>
          </a:p>
          <a:p>
            <a:pPr algn="l">
              <a:lnSpc>
                <a:spcPts val="2520"/>
              </a:lnSpc>
            </a:pPr>
            <a:r>
              <a:rPr lang="en-US" sz="1800" dirty="0">
                <a:solidFill>
                  <a:srgbClr val="FFFFFF"/>
                </a:solidFill>
                <a:latin typeface="Nixie One"/>
                <a:ea typeface="Nixie One"/>
                <a:cs typeface="Nixie One"/>
                <a:sym typeface="Nixie One"/>
              </a:rPr>
              <a:t>    - Stars for median values</a:t>
            </a:r>
          </a:p>
          <a:p>
            <a:pPr algn="l">
              <a:lnSpc>
                <a:spcPts val="2520"/>
              </a:lnSpc>
            </a:pPr>
            <a:r>
              <a:rPr lang="en-US" sz="1800" dirty="0">
                <a:solidFill>
                  <a:srgbClr val="FFFFFF"/>
                </a:solidFill>
                <a:latin typeface="Nixie One"/>
                <a:ea typeface="Nixie One"/>
                <a:cs typeface="Nixie One"/>
                <a:sym typeface="Nixie One"/>
              </a:rPr>
              <a:t>    - Green triangles for mean plus/minus standard deviation</a:t>
            </a:r>
          </a:p>
          <a:p>
            <a:pPr algn="l">
              <a:lnSpc>
                <a:spcPts val="2520"/>
              </a:lnSpc>
            </a:pPr>
            <a:r>
              <a:rPr lang="en-US" sz="1800" dirty="0">
                <a:solidFill>
                  <a:srgbClr val="FFFFFF"/>
                </a:solidFill>
                <a:latin typeface="Nixie One"/>
                <a:ea typeface="Nixie One"/>
                <a:cs typeface="Nixie One"/>
                <a:sym typeface="Nixie One"/>
              </a:rPr>
              <a:t>    - Orange arrows for 25th and 75th percentiles</a:t>
            </a:r>
          </a:p>
          <a:p>
            <a:pPr algn="l">
              <a:lnSpc>
                <a:spcPts val="2520"/>
              </a:lnSpc>
            </a:pPr>
            <a:r>
              <a:rPr lang="en-US" sz="1800" dirty="0">
                <a:solidFill>
                  <a:srgbClr val="FFFFFF"/>
                </a:solidFill>
                <a:latin typeface="Nixie One"/>
                <a:ea typeface="Nixie One"/>
                <a:cs typeface="Nixie One"/>
                <a:sym typeface="Nixie One"/>
              </a:rPr>
              <a:t>  - add a legend to explain what each shape and color means.</a:t>
            </a:r>
          </a:p>
          <a:p>
            <a:pPr algn="l">
              <a:lnSpc>
                <a:spcPts val="2520"/>
              </a:lnSpc>
            </a:pPr>
            <a:r>
              <a:rPr lang="en-US" sz="1800" dirty="0">
                <a:solidFill>
                  <a:srgbClr val="FFFFFF"/>
                </a:solidFill>
                <a:latin typeface="Nixie One"/>
                <a:ea typeface="Nixie One"/>
                <a:cs typeface="Nixie One"/>
                <a:sym typeface="Nixie One"/>
              </a:rPr>
              <a:t>  - give our graph a title and label the y-axis.</a:t>
            </a:r>
          </a:p>
          <a:p>
            <a:pPr algn="l">
              <a:lnSpc>
                <a:spcPts val="2520"/>
              </a:lnSpc>
            </a:pPr>
            <a:r>
              <a:rPr lang="en-US" sz="1800" dirty="0">
                <a:solidFill>
                  <a:srgbClr val="FFFFFF"/>
                </a:solidFill>
                <a:latin typeface="Nixie One"/>
                <a:ea typeface="Nixie One"/>
                <a:cs typeface="Nixie One"/>
                <a:sym typeface="Nixie One"/>
              </a:rPr>
              <a:t>  - adjust the layout to make everything fit nicely.</a:t>
            </a:r>
          </a:p>
          <a:p>
            <a:pPr marL="0" lvl="0" indent="0" algn="l">
              <a:lnSpc>
                <a:spcPts val="2520"/>
              </a:lnSpc>
              <a:spcBef>
                <a:spcPct val="0"/>
              </a:spcBef>
            </a:pPr>
            <a:endParaRPr lang="en-US" sz="1800" dirty="0">
              <a:solidFill>
                <a:srgbClr val="FFFFFF"/>
              </a:solidFill>
              <a:latin typeface="Nixie One"/>
              <a:ea typeface="Nixie One"/>
              <a:cs typeface="Nixie One"/>
              <a:sym typeface="Nixie On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323" t="-39727" b="-39727"/>
            </a:stretch>
          </a:blipFill>
        </p:spPr>
        <p:txBody>
          <a:bodyPr/>
          <a:lstStyle/>
          <a:p>
            <a:endParaRPr lang="en-US"/>
          </a:p>
        </p:txBody>
      </p:sp>
      <p:sp>
        <p:nvSpPr>
          <p:cNvPr id="3" name="TextBox 3"/>
          <p:cNvSpPr txBox="1"/>
          <p:nvPr/>
        </p:nvSpPr>
        <p:spPr>
          <a:xfrm>
            <a:off x="1028700" y="1719785"/>
            <a:ext cx="5300640" cy="2752593"/>
          </a:xfrm>
          <a:prstGeom prst="rect">
            <a:avLst/>
          </a:prstGeom>
        </p:spPr>
        <p:txBody>
          <a:bodyPr lIns="0" tIns="0" rIns="0" bIns="0" rtlCol="0" anchor="t">
            <a:spAutoFit/>
          </a:bodyPr>
          <a:lstStyle/>
          <a:p>
            <a:pPr marL="0" lvl="0" indent="0" algn="l">
              <a:lnSpc>
                <a:spcPts val="10800"/>
              </a:lnSpc>
              <a:spcBef>
                <a:spcPct val="0"/>
              </a:spcBef>
            </a:pPr>
            <a:r>
              <a:rPr lang="en-US" sz="9000">
                <a:solidFill>
                  <a:srgbClr val="000000"/>
                </a:solidFill>
                <a:latin typeface="Open Sauce"/>
                <a:ea typeface="Open Sauce"/>
                <a:cs typeface="Open Sauce"/>
                <a:sym typeface="Open Sauce"/>
              </a:rPr>
              <a:t>Our Company</a:t>
            </a:r>
          </a:p>
        </p:txBody>
      </p:sp>
      <p:grpSp>
        <p:nvGrpSpPr>
          <p:cNvPr id="4" name="Group 4"/>
          <p:cNvGrpSpPr/>
          <p:nvPr/>
        </p:nvGrpSpPr>
        <p:grpSpPr>
          <a:xfrm>
            <a:off x="760530" y="890288"/>
            <a:ext cx="16766940" cy="8506424"/>
            <a:chOff x="0" y="0"/>
            <a:chExt cx="4415984" cy="2240375"/>
          </a:xfrm>
        </p:grpSpPr>
        <p:sp>
          <p:nvSpPr>
            <p:cNvPr id="5" name="Freeform 5"/>
            <p:cNvSpPr/>
            <p:nvPr/>
          </p:nvSpPr>
          <p:spPr>
            <a:xfrm>
              <a:off x="0" y="0"/>
              <a:ext cx="4415984" cy="2240375"/>
            </a:xfrm>
            <a:custGeom>
              <a:avLst/>
              <a:gdLst/>
              <a:ahLst/>
              <a:cxnLst/>
              <a:rect l="l" t="t" r="r" b="b"/>
              <a:pathLst>
                <a:path w="4415984" h="2240375">
                  <a:moveTo>
                    <a:pt x="46174" y="0"/>
                  </a:moveTo>
                  <a:lnTo>
                    <a:pt x="4369811" y="0"/>
                  </a:lnTo>
                  <a:cubicBezTo>
                    <a:pt x="4395312" y="0"/>
                    <a:pt x="4415984" y="20673"/>
                    <a:pt x="4415984" y="46174"/>
                  </a:cubicBezTo>
                  <a:lnTo>
                    <a:pt x="4415984" y="2194201"/>
                  </a:lnTo>
                  <a:cubicBezTo>
                    <a:pt x="4415984" y="2206447"/>
                    <a:pt x="4411120" y="2218192"/>
                    <a:pt x="4402460" y="2226851"/>
                  </a:cubicBezTo>
                  <a:cubicBezTo>
                    <a:pt x="4393801" y="2235510"/>
                    <a:pt x="4382057" y="2240375"/>
                    <a:pt x="4369811" y="2240375"/>
                  </a:cubicBezTo>
                  <a:lnTo>
                    <a:pt x="46174" y="2240375"/>
                  </a:lnTo>
                  <a:cubicBezTo>
                    <a:pt x="33928" y="2240375"/>
                    <a:pt x="22183" y="2235510"/>
                    <a:pt x="13524" y="2226851"/>
                  </a:cubicBezTo>
                  <a:cubicBezTo>
                    <a:pt x="4865" y="2218192"/>
                    <a:pt x="0" y="2206447"/>
                    <a:pt x="0" y="2194201"/>
                  </a:cubicBezTo>
                  <a:lnTo>
                    <a:pt x="0" y="46174"/>
                  </a:lnTo>
                  <a:cubicBezTo>
                    <a:pt x="0" y="33928"/>
                    <a:pt x="4865" y="22183"/>
                    <a:pt x="13524" y="13524"/>
                  </a:cubicBezTo>
                  <a:cubicBezTo>
                    <a:pt x="22183" y="4865"/>
                    <a:pt x="33928" y="0"/>
                    <a:pt x="46174" y="0"/>
                  </a:cubicBezTo>
                  <a:close/>
                </a:path>
              </a:pathLst>
            </a:custGeom>
            <a:solidFill>
              <a:srgbClr val="343A48"/>
            </a:solidFill>
          </p:spPr>
          <p:txBody>
            <a:bodyPr/>
            <a:lstStyle/>
            <a:p>
              <a:endParaRPr lang="en-US"/>
            </a:p>
          </p:txBody>
        </p:sp>
        <p:sp>
          <p:nvSpPr>
            <p:cNvPr id="6" name="TextBox 6"/>
            <p:cNvSpPr txBox="1"/>
            <p:nvPr/>
          </p:nvSpPr>
          <p:spPr>
            <a:xfrm>
              <a:off x="0" y="-47625"/>
              <a:ext cx="4415984" cy="2288000"/>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8999910" y="2258728"/>
            <a:ext cx="7975290" cy="5968414"/>
            <a:chOff x="0" y="0"/>
            <a:chExt cx="10633721" cy="7957885"/>
          </a:xfrm>
        </p:grpSpPr>
        <p:pic>
          <p:nvPicPr>
            <p:cNvPr id="8" name="Picture 8"/>
            <p:cNvPicPr>
              <a:picLocks noChangeAspect="1"/>
            </p:cNvPicPr>
            <p:nvPr/>
          </p:nvPicPr>
          <p:blipFill>
            <a:blip r:embed="rId3"/>
            <a:srcRect l="141" r="141"/>
            <a:stretch>
              <a:fillRect/>
            </a:stretch>
          </p:blipFill>
          <p:spPr>
            <a:xfrm>
              <a:off x="0" y="0"/>
              <a:ext cx="10633721" cy="7957885"/>
            </a:xfrm>
            <a:prstGeom prst="rect">
              <a:avLst/>
            </a:prstGeom>
          </p:spPr>
        </p:pic>
      </p:grpSp>
      <p:sp>
        <p:nvSpPr>
          <p:cNvPr id="9" name="TextBox 9"/>
          <p:cNvSpPr txBox="1"/>
          <p:nvPr/>
        </p:nvSpPr>
        <p:spPr>
          <a:xfrm>
            <a:off x="1677846" y="4760338"/>
            <a:ext cx="6585016" cy="861574"/>
          </a:xfrm>
          <a:prstGeom prst="rect">
            <a:avLst/>
          </a:prstGeom>
        </p:spPr>
        <p:txBody>
          <a:bodyPr lIns="0" tIns="0" rIns="0" bIns="0" rtlCol="0" anchor="t">
            <a:spAutoFit/>
          </a:bodyPr>
          <a:lstStyle/>
          <a:p>
            <a:pPr marL="0" lvl="0" indent="0" algn="ctr">
              <a:lnSpc>
                <a:spcPts val="6513"/>
              </a:lnSpc>
              <a:spcBef>
                <a:spcPct val="0"/>
              </a:spcBef>
            </a:pPr>
            <a:r>
              <a:rPr lang="en-US" sz="6324">
                <a:solidFill>
                  <a:srgbClr val="FFFFFF"/>
                </a:solidFill>
                <a:latin typeface="Montserrat"/>
                <a:ea typeface="Montserrat"/>
                <a:cs typeface="Montserrat"/>
                <a:sym typeface="Montserrat"/>
              </a:rPr>
              <a:t>TASK 1 OUTPUT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grpSp>
        <p:nvGrpSpPr>
          <p:cNvPr id="2" name="Group 2"/>
          <p:cNvGrpSpPr/>
          <p:nvPr/>
        </p:nvGrpSpPr>
        <p:grpSpPr>
          <a:xfrm>
            <a:off x="285760" y="383392"/>
            <a:ext cx="17659661" cy="8291611"/>
            <a:chOff x="0" y="0"/>
            <a:chExt cx="23546214" cy="11055481"/>
          </a:xfrm>
        </p:grpSpPr>
        <p:pic>
          <p:nvPicPr>
            <p:cNvPr id="3" name="Picture 3"/>
            <p:cNvPicPr>
              <a:picLocks noChangeAspect="1"/>
            </p:cNvPicPr>
            <p:nvPr/>
          </p:nvPicPr>
          <p:blipFill>
            <a:blip r:embed="rId2"/>
            <a:srcRect b="15780"/>
            <a:stretch>
              <a:fillRect/>
            </a:stretch>
          </p:blipFill>
          <p:spPr>
            <a:xfrm>
              <a:off x="0" y="0"/>
              <a:ext cx="23546214" cy="11055481"/>
            </a:xfrm>
            <a:prstGeom prst="rect">
              <a:avLst/>
            </a:prstGeom>
          </p:spPr>
        </p:pic>
      </p:grpSp>
      <p:sp>
        <p:nvSpPr>
          <p:cNvPr id="4" name="TextBox 4"/>
          <p:cNvSpPr txBox="1"/>
          <p:nvPr/>
        </p:nvSpPr>
        <p:spPr>
          <a:xfrm>
            <a:off x="1365337" y="8798827"/>
            <a:ext cx="15557326" cy="1042770"/>
          </a:xfrm>
          <a:prstGeom prst="rect">
            <a:avLst/>
          </a:prstGeom>
        </p:spPr>
        <p:txBody>
          <a:bodyPr lIns="0" tIns="0" rIns="0" bIns="0" rtlCol="0" anchor="t">
            <a:spAutoFit/>
          </a:bodyPr>
          <a:lstStyle/>
          <a:p>
            <a:pPr marL="0" lvl="0" indent="0" algn="ctr">
              <a:lnSpc>
                <a:spcPts val="7941"/>
              </a:lnSpc>
              <a:spcBef>
                <a:spcPct val="0"/>
              </a:spcBef>
            </a:pPr>
            <a:r>
              <a:rPr lang="en-US" sz="7710">
                <a:solidFill>
                  <a:srgbClr val="FFFFFF"/>
                </a:solidFill>
                <a:latin typeface="Montserrat"/>
                <a:ea typeface="Montserrat"/>
                <a:cs typeface="Montserrat"/>
                <a:sym typeface="Montserrat"/>
              </a:rPr>
              <a:t>TASK 2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grpSp>
        <p:nvGrpSpPr>
          <p:cNvPr id="2" name="Group 2"/>
          <p:cNvGrpSpPr/>
          <p:nvPr/>
        </p:nvGrpSpPr>
        <p:grpSpPr>
          <a:xfrm>
            <a:off x="11152635" y="338042"/>
            <a:ext cx="6034118" cy="3974601"/>
            <a:chOff x="0" y="0"/>
            <a:chExt cx="8045491" cy="5299468"/>
          </a:xfrm>
        </p:grpSpPr>
        <p:pic>
          <p:nvPicPr>
            <p:cNvPr id="3" name="Picture 3"/>
            <p:cNvPicPr>
              <a:picLocks noChangeAspect="1"/>
            </p:cNvPicPr>
            <p:nvPr/>
          </p:nvPicPr>
          <p:blipFill>
            <a:blip r:embed="rId2"/>
            <a:srcRect t="8702" b="8702"/>
            <a:stretch>
              <a:fillRect/>
            </a:stretch>
          </p:blipFill>
          <p:spPr>
            <a:xfrm>
              <a:off x="0" y="0"/>
              <a:ext cx="8045491" cy="5299468"/>
            </a:xfrm>
            <a:prstGeom prst="rect">
              <a:avLst/>
            </a:prstGeom>
          </p:spPr>
        </p:pic>
      </p:grpSp>
      <p:grpSp>
        <p:nvGrpSpPr>
          <p:cNvPr id="4" name="Group 4"/>
          <p:cNvGrpSpPr/>
          <p:nvPr/>
        </p:nvGrpSpPr>
        <p:grpSpPr>
          <a:xfrm>
            <a:off x="11152635" y="5343813"/>
            <a:ext cx="6106665" cy="4097656"/>
            <a:chOff x="0" y="0"/>
            <a:chExt cx="8142220" cy="5463542"/>
          </a:xfrm>
        </p:grpSpPr>
        <p:pic>
          <p:nvPicPr>
            <p:cNvPr id="5" name="Picture 5"/>
            <p:cNvPicPr>
              <a:picLocks noChangeAspect="1"/>
            </p:cNvPicPr>
            <p:nvPr/>
          </p:nvPicPr>
          <p:blipFill>
            <a:blip r:embed="rId3"/>
            <a:srcRect t="7930" b="7930"/>
            <a:stretch>
              <a:fillRect/>
            </a:stretch>
          </p:blipFill>
          <p:spPr>
            <a:xfrm>
              <a:off x="0" y="0"/>
              <a:ext cx="8142220" cy="5463542"/>
            </a:xfrm>
            <a:prstGeom prst="rect">
              <a:avLst/>
            </a:prstGeom>
          </p:spPr>
        </p:pic>
      </p:grpSp>
      <p:grpSp>
        <p:nvGrpSpPr>
          <p:cNvPr id="6" name="Group 6"/>
          <p:cNvGrpSpPr/>
          <p:nvPr/>
        </p:nvGrpSpPr>
        <p:grpSpPr>
          <a:xfrm>
            <a:off x="1439634" y="4312643"/>
            <a:ext cx="7350272" cy="4945657"/>
            <a:chOff x="0" y="0"/>
            <a:chExt cx="9800363" cy="6594209"/>
          </a:xfrm>
        </p:grpSpPr>
        <p:pic>
          <p:nvPicPr>
            <p:cNvPr id="7" name="Picture 7"/>
            <p:cNvPicPr>
              <a:picLocks noChangeAspect="1"/>
            </p:cNvPicPr>
            <p:nvPr/>
          </p:nvPicPr>
          <p:blipFill>
            <a:blip r:embed="rId4"/>
            <a:srcRect t="7814" b="7814"/>
            <a:stretch>
              <a:fillRect/>
            </a:stretch>
          </p:blipFill>
          <p:spPr>
            <a:xfrm>
              <a:off x="0" y="0"/>
              <a:ext cx="9800363" cy="6594209"/>
            </a:xfrm>
            <a:prstGeom prst="rect">
              <a:avLst/>
            </a:prstGeom>
          </p:spPr>
        </p:pic>
      </p:grpSp>
      <p:sp>
        <p:nvSpPr>
          <p:cNvPr id="8" name="TextBox 8"/>
          <p:cNvSpPr txBox="1"/>
          <p:nvPr/>
        </p:nvSpPr>
        <p:spPr>
          <a:xfrm>
            <a:off x="857390" y="2135926"/>
            <a:ext cx="8514760" cy="1103872"/>
          </a:xfrm>
          <a:prstGeom prst="rect">
            <a:avLst/>
          </a:prstGeom>
        </p:spPr>
        <p:txBody>
          <a:bodyPr lIns="0" tIns="0" rIns="0" bIns="0" rtlCol="0" anchor="t">
            <a:spAutoFit/>
          </a:bodyPr>
          <a:lstStyle/>
          <a:p>
            <a:pPr marL="0" lvl="0" indent="0" algn="ctr">
              <a:lnSpc>
                <a:spcPts val="8422"/>
              </a:lnSpc>
              <a:spcBef>
                <a:spcPct val="0"/>
              </a:spcBef>
            </a:pPr>
            <a:r>
              <a:rPr lang="en-US" sz="8177">
                <a:solidFill>
                  <a:srgbClr val="FFFFFF"/>
                </a:solidFill>
                <a:latin typeface="Montserrat"/>
                <a:ea typeface="Montserrat"/>
                <a:cs typeface="Montserrat"/>
                <a:sym typeface="Montserrat"/>
              </a:rPr>
              <a:t>TASK 2 OUTPUT</a:t>
            </a:r>
          </a:p>
        </p:txBody>
      </p:sp>
      <p:sp>
        <p:nvSpPr>
          <p:cNvPr id="9" name="TextBox 9"/>
          <p:cNvSpPr txBox="1"/>
          <p:nvPr/>
        </p:nvSpPr>
        <p:spPr>
          <a:xfrm>
            <a:off x="10742135" y="4388843"/>
            <a:ext cx="6855119" cy="656900"/>
          </a:xfrm>
          <a:prstGeom prst="rect">
            <a:avLst/>
          </a:prstGeom>
        </p:spPr>
        <p:txBody>
          <a:bodyPr lIns="0" tIns="0" rIns="0" bIns="0" rtlCol="0" anchor="t">
            <a:spAutoFit/>
          </a:bodyPr>
          <a:lstStyle/>
          <a:p>
            <a:pPr marL="0" lvl="0" indent="0" algn="ctr">
              <a:lnSpc>
                <a:spcPts val="2582"/>
              </a:lnSpc>
              <a:spcBef>
                <a:spcPct val="0"/>
              </a:spcBef>
            </a:pPr>
            <a:r>
              <a:rPr lang="en-US" sz="2507">
                <a:solidFill>
                  <a:srgbClr val="FFFFFF"/>
                </a:solidFill>
                <a:latin typeface="Montserrat"/>
                <a:ea typeface="Montserrat"/>
                <a:cs typeface="Montserrat"/>
                <a:sym typeface="Montserrat"/>
              </a:rPr>
              <a:t>WEIGHT CHANGE VS WEIGHT CHANGE A YEAR AGO</a:t>
            </a:r>
          </a:p>
        </p:txBody>
      </p:sp>
      <p:sp>
        <p:nvSpPr>
          <p:cNvPr id="10" name="TextBox 10"/>
          <p:cNvSpPr txBox="1"/>
          <p:nvPr/>
        </p:nvSpPr>
        <p:spPr>
          <a:xfrm>
            <a:off x="11999528" y="9576656"/>
            <a:ext cx="4412880" cy="336452"/>
          </a:xfrm>
          <a:prstGeom prst="rect">
            <a:avLst/>
          </a:prstGeom>
        </p:spPr>
        <p:txBody>
          <a:bodyPr lIns="0" tIns="0" rIns="0" bIns="0" rtlCol="0" anchor="t">
            <a:spAutoFit/>
          </a:bodyPr>
          <a:lstStyle/>
          <a:p>
            <a:pPr marL="0" lvl="0" indent="0" algn="ctr">
              <a:lnSpc>
                <a:spcPts val="2549"/>
              </a:lnSpc>
              <a:spcBef>
                <a:spcPct val="0"/>
              </a:spcBef>
            </a:pPr>
            <a:r>
              <a:rPr lang="en-US" sz="2475">
                <a:solidFill>
                  <a:srgbClr val="FFFFFF"/>
                </a:solidFill>
                <a:latin typeface="Montserrat"/>
                <a:ea typeface="Montserrat"/>
                <a:cs typeface="Montserrat"/>
                <a:sym typeface="Montserrat"/>
              </a:rPr>
              <a:t>WEIGHT CHANGE VS AGE</a:t>
            </a:r>
          </a:p>
        </p:txBody>
      </p:sp>
      <p:sp>
        <p:nvSpPr>
          <p:cNvPr id="11" name="TextBox 11"/>
          <p:cNvSpPr txBox="1"/>
          <p:nvPr/>
        </p:nvSpPr>
        <p:spPr>
          <a:xfrm>
            <a:off x="2006768" y="9411485"/>
            <a:ext cx="6216004" cy="314347"/>
          </a:xfrm>
          <a:prstGeom prst="rect">
            <a:avLst/>
          </a:prstGeom>
        </p:spPr>
        <p:txBody>
          <a:bodyPr lIns="0" tIns="0" rIns="0" bIns="0" rtlCol="0" anchor="t">
            <a:spAutoFit/>
          </a:bodyPr>
          <a:lstStyle/>
          <a:p>
            <a:pPr marL="0" lvl="0" indent="0" algn="ctr">
              <a:lnSpc>
                <a:spcPts val="2464"/>
              </a:lnSpc>
              <a:spcBef>
                <a:spcPct val="0"/>
              </a:spcBef>
            </a:pPr>
            <a:r>
              <a:rPr lang="en-US" sz="2392">
                <a:solidFill>
                  <a:srgbClr val="FFFFFF"/>
                </a:solidFill>
                <a:latin typeface="Montserrat"/>
                <a:ea typeface="Montserrat"/>
                <a:cs typeface="Montserrat"/>
                <a:sym typeface="Montserrat"/>
              </a:rPr>
              <a:t>WEIGHT CHANGE VS CURRENT WEIGHT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grpSp>
        <p:nvGrpSpPr>
          <p:cNvPr id="2" name="Group 2"/>
          <p:cNvGrpSpPr/>
          <p:nvPr/>
        </p:nvGrpSpPr>
        <p:grpSpPr>
          <a:xfrm>
            <a:off x="285760" y="383392"/>
            <a:ext cx="17602841" cy="6927934"/>
            <a:chOff x="0" y="0"/>
            <a:chExt cx="23470454" cy="9237246"/>
          </a:xfrm>
        </p:grpSpPr>
        <p:pic>
          <p:nvPicPr>
            <p:cNvPr id="3" name="Picture 3"/>
            <p:cNvPicPr>
              <a:picLocks noChangeAspect="1"/>
            </p:cNvPicPr>
            <p:nvPr/>
          </p:nvPicPr>
          <p:blipFill>
            <a:blip r:embed="rId2"/>
            <a:srcRect r="2028" b="16176"/>
            <a:stretch>
              <a:fillRect/>
            </a:stretch>
          </p:blipFill>
          <p:spPr>
            <a:xfrm>
              <a:off x="0" y="0"/>
              <a:ext cx="23470454" cy="9237246"/>
            </a:xfrm>
            <a:prstGeom prst="rect">
              <a:avLst/>
            </a:prstGeom>
          </p:spPr>
        </p:pic>
      </p:grpSp>
      <p:sp>
        <p:nvSpPr>
          <p:cNvPr id="4" name="Freeform 4"/>
          <p:cNvSpPr/>
          <p:nvPr/>
        </p:nvSpPr>
        <p:spPr>
          <a:xfrm>
            <a:off x="4538331" y="7447302"/>
            <a:ext cx="9097698" cy="1091724"/>
          </a:xfrm>
          <a:custGeom>
            <a:avLst/>
            <a:gdLst/>
            <a:ahLst/>
            <a:cxnLst/>
            <a:rect l="l" t="t" r="r" b="b"/>
            <a:pathLst>
              <a:path w="9097698" h="1091724">
                <a:moveTo>
                  <a:pt x="0" y="0"/>
                </a:moveTo>
                <a:lnTo>
                  <a:pt x="9097698" y="0"/>
                </a:lnTo>
                <a:lnTo>
                  <a:pt x="9097698" y="1091724"/>
                </a:lnTo>
                <a:lnTo>
                  <a:pt x="0" y="109172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365337" y="8798827"/>
            <a:ext cx="15557326" cy="1042770"/>
          </a:xfrm>
          <a:prstGeom prst="rect">
            <a:avLst/>
          </a:prstGeom>
        </p:spPr>
        <p:txBody>
          <a:bodyPr lIns="0" tIns="0" rIns="0" bIns="0" rtlCol="0" anchor="t">
            <a:spAutoFit/>
          </a:bodyPr>
          <a:lstStyle/>
          <a:p>
            <a:pPr marL="0" lvl="0" indent="0" algn="ctr">
              <a:lnSpc>
                <a:spcPts val="7941"/>
              </a:lnSpc>
              <a:spcBef>
                <a:spcPct val="0"/>
              </a:spcBef>
            </a:pPr>
            <a:r>
              <a:rPr lang="en-US" sz="7710">
                <a:solidFill>
                  <a:srgbClr val="FFFFFF"/>
                </a:solidFill>
                <a:latin typeface="Montserrat"/>
                <a:ea typeface="Montserrat"/>
                <a:cs typeface="Montserrat"/>
                <a:sym typeface="Montserrat"/>
              </a:rPr>
              <a:t>TASK 3 CODE AND OUTPUT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A48"/>
        </a:solidFill>
        <a:effectLst/>
      </p:bgPr>
    </p:bg>
    <p:spTree>
      <p:nvGrpSpPr>
        <p:cNvPr id="1" name=""/>
        <p:cNvGrpSpPr/>
        <p:nvPr/>
      </p:nvGrpSpPr>
      <p:grpSpPr>
        <a:xfrm>
          <a:off x="0" y="0"/>
          <a:ext cx="0" cy="0"/>
          <a:chOff x="0" y="0"/>
          <a:chExt cx="0" cy="0"/>
        </a:xfrm>
      </p:grpSpPr>
      <p:grpSp>
        <p:nvGrpSpPr>
          <p:cNvPr id="4" name="Group 4"/>
          <p:cNvGrpSpPr/>
          <p:nvPr/>
        </p:nvGrpSpPr>
        <p:grpSpPr>
          <a:xfrm>
            <a:off x="2287355" y="0"/>
            <a:ext cx="13999438" cy="11894941"/>
            <a:chOff x="0" y="0"/>
            <a:chExt cx="3687095" cy="3132824"/>
          </a:xfrm>
        </p:grpSpPr>
        <p:sp>
          <p:nvSpPr>
            <p:cNvPr id="5" name="Freeform 5"/>
            <p:cNvSpPr/>
            <p:nvPr/>
          </p:nvSpPr>
          <p:spPr>
            <a:xfrm>
              <a:off x="0" y="0"/>
              <a:ext cx="3687095" cy="3132824"/>
            </a:xfrm>
            <a:custGeom>
              <a:avLst/>
              <a:gdLst/>
              <a:ahLst/>
              <a:cxnLst/>
              <a:rect l="l" t="t" r="r" b="b"/>
              <a:pathLst>
                <a:path w="3687095" h="3132824">
                  <a:moveTo>
                    <a:pt x="55302" y="0"/>
                  </a:moveTo>
                  <a:lnTo>
                    <a:pt x="3631793" y="0"/>
                  </a:lnTo>
                  <a:cubicBezTo>
                    <a:pt x="3662335" y="0"/>
                    <a:pt x="3687095" y="24759"/>
                    <a:pt x="3687095" y="55302"/>
                  </a:cubicBezTo>
                  <a:lnTo>
                    <a:pt x="3687095" y="3077522"/>
                  </a:lnTo>
                  <a:cubicBezTo>
                    <a:pt x="3687095" y="3108065"/>
                    <a:pt x="3662335" y="3132824"/>
                    <a:pt x="3631793" y="3132824"/>
                  </a:cubicBezTo>
                  <a:lnTo>
                    <a:pt x="55302" y="3132824"/>
                  </a:lnTo>
                  <a:cubicBezTo>
                    <a:pt x="24759" y="3132824"/>
                    <a:pt x="0" y="3108065"/>
                    <a:pt x="0" y="3077522"/>
                  </a:cubicBezTo>
                  <a:lnTo>
                    <a:pt x="0" y="55302"/>
                  </a:lnTo>
                  <a:cubicBezTo>
                    <a:pt x="0" y="24759"/>
                    <a:pt x="24759" y="0"/>
                    <a:pt x="55302" y="0"/>
                  </a:cubicBezTo>
                  <a:close/>
                </a:path>
              </a:pathLst>
            </a:custGeom>
            <a:solidFill>
              <a:srgbClr val="343A48"/>
            </a:solidFill>
          </p:spPr>
          <p:txBody>
            <a:bodyPr/>
            <a:lstStyle/>
            <a:p>
              <a:endParaRPr lang="en-US"/>
            </a:p>
          </p:txBody>
        </p:sp>
        <p:sp>
          <p:nvSpPr>
            <p:cNvPr id="6" name="TextBox 6"/>
            <p:cNvSpPr txBox="1"/>
            <p:nvPr/>
          </p:nvSpPr>
          <p:spPr>
            <a:xfrm>
              <a:off x="0" y="-47625"/>
              <a:ext cx="3687095" cy="3180449"/>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2805816" y="3204821"/>
            <a:ext cx="12738721" cy="3759738"/>
          </a:xfrm>
          <a:prstGeom prst="rect">
            <a:avLst/>
          </a:prstGeom>
        </p:spPr>
        <p:txBody>
          <a:bodyPr lIns="0" tIns="0" rIns="0" bIns="0" rtlCol="0" anchor="t">
            <a:spAutoFit/>
          </a:bodyPr>
          <a:lstStyle/>
          <a:p>
            <a:pPr marL="427226" lvl="1" indent="-213613" algn="l">
              <a:lnSpc>
                <a:spcPts val="2770"/>
              </a:lnSpc>
              <a:buFont typeface="Arial"/>
              <a:buChar char="•"/>
            </a:pPr>
            <a:r>
              <a:rPr lang="en-US" sz="1978">
                <a:solidFill>
                  <a:srgbClr val="FFFFFF"/>
                </a:solidFill>
                <a:latin typeface="Nixie One"/>
                <a:ea typeface="Nixie One"/>
                <a:cs typeface="Nixie One"/>
                <a:sym typeface="Nixie One"/>
              </a:rPr>
              <a:t>The dataset indeed illustrates that persons with higher historical weights are likely to have higher changes over time, which is evoked by the strong correlation between weight change and weight from a year ago. </a:t>
            </a:r>
          </a:p>
          <a:p>
            <a:pPr marL="427226" lvl="1" indent="-213613" algn="l">
              <a:lnSpc>
                <a:spcPts val="2770"/>
              </a:lnSpc>
              <a:buFont typeface="Arial"/>
              <a:buChar char="•"/>
            </a:pPr>
            <a:r>
              <a:rPr lang="en-US" sz="1978">
                <a:solidFill>
                  <a:srgbClr val="FFFFFF"/>
                </a:solidFill>
                <a:latin typeface="Nixie One"/>
                <a:ea typeface="Nixie One"/>
                <a:cs typeface="Nixie One"/>
                <a:sym typeface="Nixie One"/>
              </a:rPr>
              <a:t>Current weight and weight change do present some positive correlation; in other words, those individuals who have higher weights now also gained more weight recently. </a:t>
            </a:r>
          </a:p>
          <a:p>
            <a:pPr marL="427226" lvl="1" indent="-213613" algn="l">
              <a:lnSpc>
                <a:spcPts val="2770"/>
              </a:lnSpc>
              <a:buFont typeface="Arial"/>
              <a:buChar char="•"/>
            </a:pPr>
            <a:r>
              <a:rPr lang="en-US" sz="1978">
                <a:solidFill>
                  <a:srgbClr val="FFFFFF"/>
                </a:solidFill>
                <a:latin typeface="Nixie One"/>
                <a:ea typeface="Nixie One"/>
                <a:cs typeface="Nixie One"/>
                <a:sym typeface="Nixie One"/>
              </a:rPr>
              <a:t>Whereas the variation in weight does not change drastically with age, this would imply that lifestyle or health behavior matters more. </a:t>
            </a:r>
          </a:p>
          <a:p>
            <a:pPr marL="427226" lvl="1" indent="-213613" algn="l">
              <a:lnSpc>
                <a:spcPts val="2770"/>
              </a:lnSpc>
              <a:buFont typeface="Arial"/>
              <a:buChar char="•"/>
            </a:pPr>
            <a:r>
              <a:rPr lang="en-US" sz="1978">
                <a:solidFill>
                  <a:srgbClr val="FFFFFF"/>
                </a:solidFill>
                <a:latin typeface="Nixie One"/>
                <a:ea typeface="Nixie One"/>
                <a:cs typeface="Nixie One"/>
                <a:sym typeface="Nixie One"/>
              </a:rPr>
              <a:t>Besides giving an example of how statistical techniques and predictive modeling can be used to analyze patterns and make forecasts, the research also brings into focus the importance of historical weight data in understanding weight swings.</a:t>
            </a:r>
          </a:p>
          <a:p>
            <a:pPr marL="0" lvl="0" indent="0" algn="l">
              <a:lnSpc>
                <a:spcPts val="2770"/>
              </a:lnSpc>
              <a:spcBef>
                <a:spcPct val="0"/>
              </a:spcBef>
            </a:pPr>
            <a:endParaRPr lang="en-US" sz="1978">
              <a:solidFill>
                <a:srgbClr val="FFFFFF"/>
              </a:solidFill>
              <a:latin typeface="Nixie One"/>
              <a:ea typeface="Nixie One"/>
              <a:cs typeface="Nixie One"/>
              <a:sym typeface="Nixie One"/>
            </a:endParaRPr>
          </a:p>
        </p:txBody>
      </p:sp>
      <p:sp>
        <p:nvSpPr>
          <p:cNvPr id="8" name="TextBox 8"/>
          <p:cNvSpPr txBox="1"/>
          <p:nvPr/>
        </p:nvSpPr>
        <p:spPr>
          <a:xfrm>
            <a:off x="2805816" y="1804898"/>
            <a:ext cx="6585016" cy="861574"/>
          </a:xfrm>
          <a:prstGeom prst="rect">
            <a:avLst/>
          </a:prstGeom>
        </p:spPr>
        <p:txBody>
          <a:bodyPr lIns="0" tIns="0" rIns="0" bIns="0" rtlCol="0" anchor="t">
            <a:spAutoFit/>
          </a:bodyPr>
          <a:lstStyle/>
          <a:p>
            <a:pPr marL="0" lvl="0" indent="0" algn="ctr">
              <a:lnSpc>
                <a:spcPts val="6513"/>
              </a:lnSpc>
              <a:spcBef>
                <a:spcPct val="0"/>
              </a:spcBef>
            </a:pPr>
            <a:r>
              <a:rPr lang="en-US" sz="6324">
                <a:solidFill>
                  <a:srgbClr val="FFFFFF"/>
                </a:solidFill>
                <a:latin typeface="Montserrat"/>
                <a:ea typeface="Montserrat"/>
                <a:cs typeface="Montserrat"/>
                <a:sym typeface="Montserrat"/>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611</Words>
  <Application>Microsoft Office PowerPoint</Application>
  <PresentationFormat>Custom</PresentationFormat>
  <Paragraphs>67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Open Sauce</vt:lpstr>
      <vt:lpstr>Calibri</vt:lpstr>
      <vt:lpstr>Montserrat</vt:lpstr>
      <vt:lpstr>Nixie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Website Competitor Analysis     </dc:title>
  <cp:lastModifiedBy>Amir Tamang</cp:lastModifiedBy>
  <cp:revision>2</cp:revision>
  <dcterms:created xsi:type="dcterms:W3CDTF">2006-08-16T00:00:00Z</dcterms:created>
  <dcterms:modified xsi:type="dcterms:W3CDTF">2024-10-28T04:43:14Z</dcterms:modified>
  <dc:identifier>DAGU1J4W3w4</dc:identifier>
</cp:coreProperties>
</file>